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Lato Bold" charset="1" panose="020F0502020204030203"/>
      <p:regular r:id="rId25"/>
    </p:embeddedFont>
    <p:embeddedFont>
      <p:font typeface="Lato" charset="1" panose="020F0502020204030203"/>
      <p:regular r:id="rId26"/>
    </p:embeddedFont>
    <p:embeddedFont>
      <p:font typeface="Lato Light" charset="1" panose="020F0502020204030203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38" Target="notesSlides/notesSlide12.xml" Type="http://schemas.openxmlformats.org/officeDocument/2006/relationships/notesSlide"/><Relationship Id="rId39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4.xml" Type="http://schemas.openxmlformats.org/officeDocument/2006/relationships/notesSlide"/><Relationship Id="rId41" Target="notesSlides/notesSlide15.xml" Type="http://schemas.openxmlformats.org/officeDocument/2006/relationships/notesSlide"/><Relationship Id="rId42" Target="notesSlides/notesSlide16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1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3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1885521"/>
            <a:ext cx="9452677" cy="2698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Multimodal Deepfake Detection Using Audio-Visual Fusion Networks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4923425"/>
            <a:ext cx="9452677" cy="2605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Presented By:</a:t>
            </a:r>
            <a:r>
              <a:rPr lang="en-US" sz="217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Divyanshu Ranjan | Roll No: CSEDS/2022/026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                        Sakshi Priya | Roll No: CSEDS/2022/051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                        Shubham Raj | Roll No: CSEDS/2022/054</a:t>
            </a:r>
          </a:p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Under the Guidance of:</a:t>
            </a:r>
            <a:r>
              <a:rPr lang="en-US" sz="217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Ms. Dipannita Basu, Assistant Professor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Department of Computer Science and Engineering (Data Science)  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Haldia Institute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7494" y="828589"/>
            <a:ext cx="7199643" cy="804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8"/>
              </a:lnSpc>
            </a:pPr>
            <a:r>
              <a:rPr lang="en-US" sz="4878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Presentation Outline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7494" y="2078669"/>
            <a:ext cx="502672" cy="314125"/>
            <a:chOff x="0" y="0"/>
            <a:chExt cx="670230" cy="4188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0234" cy="418831"/>
            </a:xfrm>
            <a:custGeom>
              <a:avLst/>
              <a:gdLst/>
              <a:ahLst/>
              <a:cxnLst/>
              <a:rect r="r" b="b" t="t" l="l"/>
              <a:pathLst>
                <a:path h="418831" w="670234">
                  <a:moveTo>
                    <a:pt x="0" y="0"/>
                  </a:moveTo>
                  <a:lnTo>
                    <a:pt x="670234" y="0"/>
                  </a:lnTo>
                  <a:lnTo>
                    <a:pt x="670234" y="418831"/>
                  </a:lnTo>
                  <a:lnTo>
                    <a:pt x="0" y="4188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8" t="0" r="-30177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670230" cy="418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4A4A45"/>
                  </a:solidFill>
                  <a:latin typeface="Lato Light"/>
                  <a:ea typeface="Lato Light"/>
                  <a:cs typeface="Lato Light"/>
                  <a:sym typeface="Lato Light"/>
                </a:rPr>
                <a:t>01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77494" y="2477100"/>
            <a:ext cx="8062017" cy="28594"/>
            <a:chOff x="0" y="0"/>
            <a:chExt cx="10749356" cy="381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49407" cy="38100"/>
            </a:xfrm>
            <a:custGeom>
              <a:avLst/>
              <a:gdLst/>
              <a:ahLst/>
              <a:cxnLst/>
              <a:rect r="r" b="b" t="t" l="l"/>
              <a:pathLst>
                <a:path h="38100" w="10749407">
                  <a:moveTo>
                    <a:pt x="0" y="0"/>
                  </a:moveTo>
                  <a:lnTo>
                    <a:pt x="10749407" y="0"/>
                  </a:lnTo>
                  <a:lnTo>
                    <a:pt x="1074940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77494" y="2650322"/>
            <a:ext cx="3142202" cy="402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Aim &amp; Objectives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7494" y="3129067"/>
            <a:ext cx="8062017" cy="436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195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Research goals and scope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62177" y="2078669"/>
            <a:ext cx="502672" cy="314125"/>
            <a:chOff x="0" y="0"/>
            <a:chExt cx="670230" cy="4188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70234" cy="418831"/>
            </a:xfrm>
            <a:custGeom>
              <a:avLst/>
              <a:gdLst/>
              <a:ahLst/>
              <a:cxnLst/>
              <a:rect r="r" b="b" t="t" l="l"/>
              <a:pathLst>
                <a:path h="418831" w="670234">
                  <a:moveTo>
                    <a:pt x="0" y="0"/>
                  </a:moveTo>
                  <a:lnTo>
                    <a:pt x="670234" y="0"/>
                  </a:lnTo>
                  <a:lnTo>
                    <a:pt x="670234" y="418831"/>
                  </a:lnTo>
                  <a:lnTo>
                    <a:pt x="0" y="4188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8" t="0" r="-30177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670230" cy="418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4A4A45"/>
                  </a:solidFill>
                  <a:latin typeface="Lato Light"/>
                  <a:ea typeface="Lato Light"/>
                  <a:cs typeface="Lato Light"/>
                  <a:sym typeface="Lato Light"/>
                </a:rPr>
                <a:t>02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62177" y="2477100"/>
            <a:ext cx="8062160" cy="28594"/>
            <a:chOff x="0" y="0"/>
            <a:chExt cx="10749547" cy="381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49534" cy="38100"/>
            </a:xfrm>
            <a:custGeom>
              <a:avLst/>
              <a:gdLst/>
              <a:ahLst/>
              <a:cxnLst/>
              <a:rect r="r" b="b" t="t" l="l"/>
              <a:pathLst>
                <a:path h="38100" w="10749534">
                  <a:moveTo>
                    <a:pt x="0" y="0"/>
                  </a:moveTo>
                  <a:lnTo>
                    <a:pt x="10749534" y="0"/>
                  </a:lnTo>
                  <a:lnTo>
                    <a:pt x="1074953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262177" y="2650322"/>
            <a:ext cx="3142202" cy="402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System Architecture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62177" y="3129067"/>
            <a:ext cx="8062160" cy="436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195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Overall framework design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77494" y="3976516"/>
            <a:ext cx="502672" cy="314125"/>
            <a:chOff x="0" y="0"/>
            <a:chExt cx="670230" cy="41883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0234" cy="418831"/>
            </a:xfrm>
            <a:custGeom>
              <a:avLst/>
              <a:gdLst/>
              <a:ahLst/>
              <a:cxnLst/>
              <a:rect r="r" b="b" t="t" l="l"/>
              <a:pathLst>
                <a:path h="418831" w="670234">
                  <a:moveTo>
                    <a:pt x="0" y="0"/>
                  </a:moveTo>
                  <a:lnTo>
                    <a:pt x="670234" y="0"/>
                  </a:lnTo>
                  <a:lnTo>
                    <a:pt x="670234" y="418831"/>
                  </a:lnTo>
                  <a:lnTo>
                    <a:pt x="0" y="4188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8" t="0" r="-30177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670230" cy="418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4A4A45"/>
                  </a:solidFill>
                  <a:latin typeface="Lato Light"/>
                  <a:ea typeface="Lato Light"/>
                  <a:cs typeface="Lato Light"/>
                  <a:sym typeface="Lato Light"/>
                </a:rPr>
                <a:t>03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77494" y="4374947"/>
            <a:ext cx="8062017" cy="28594"/>
            <a:chOff x="0" y="0"/>
            <a:chExt cx="10749356" cy="3812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49407" cy="38100"/>
            </a:xfrm>
            <a:custGeom>
              <a:avLst/>
              <a:gdLst/>
              <a:ahLst/>
              <a:cxnLst/>
              <a:rect r="r" b="b" t="t" l="l"/>
              <a:pathLst>
                <a:path h="38100" w="10749407">
                  <a:moveTo>
                    <a:pt x="0" y="0"/>
                  </a:moveTo>
                  <a:lnTo>
                    <a:pt x="10749407" y="0"/>
                  </a:lnTo>
                  <a:lnTo>
                    <a:pt x="1074940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77494" y="4548178"/>
            <a:ext cx="3290545" cy="402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Image-Based Detection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77494" y="5026924"/>
            <a:ext cx="8062017" cy="436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195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Pipeline and results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62177" y="3976516"/>
            <a:ext cx="502672" cy="314125"/>
            <a:chOff x="0" y="0"/>
            <a:chExt cx="670230" cy="41883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70234" cy="418831"/>
            </a:xfrm>
            <a:custGeom>
              <a:avLst/>
              <a:gdLst/>
              <a:ahLst/>
              <a:cxnLst/>
              <a:rect r="r" b="b" t="t" l="l"/>
              <a:pathLst>
                <a:path h="418831" w="670234">
                  <a:moveTo>
                    <a:pt x="0" y="0"/>
                  </a:moveTo>
                  <a:lnTo>
                    <a:pt x="670234" y="0"/>
                  </a:lnTo>
                  <a:lnTo>
                    <a:pt x="670234" y="418831"/>
                  </a:lnTo>
                  <a:lnTo>
                    <a:pt x="0" y="4188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8" t="0" r="-30177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670230" cy="418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4A4A45"/>
                  </a:solidFill>
                  <a:latin typeface="Lato Light"/>
                  <a:ea typeface="Lato Light"/>
                  <a:cs typeface="Lato Light"/>
                  <a:sym typeface="Lato Light"/>
                </a:rPr>
                <a:t>04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262177" y="4374947"/>
            <a:ext cx="8062160" cy="28594"/>
            <a:chOff x="0" y="0"/>
            <a:chExt cx="10749547" cy="3812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749534" cy="38100"/>
            </a:xfrm>
            <a:custGeom>
              <a:avLst/>
              <a:gdLst/>
              <a:ahLst/>
              <a:cxnLst/>
              <a:rect r="r" b="b" t="t" l="l"/>
              <a:pathLst>
                <a:path h="38100" w="10749534">
                  <a:moveTo>
                    <a:pt x="0" y="0"/>
                  </a:moveTo>
                  <a:lnTo>
                    <a:pt x="10749534" y="0"/>
                  </a:lnTo>
                  <a:lnTo>
                    <a:pt x="1074953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262177" y="4548178"/>
            <a:ext cx="3266275" cy="402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Video-Based Detection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262177" y="5026924"/>
            <a:ext cx="8062160" cy="436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195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Pipeline and results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77494" y="5874372"/>
            <a:ext cx="502672" cy="314125"/>
            <a:chOff x="0" y="0"/>
            <a:chExt cx="670230" cy="41883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70234" cy="418831"/>
            </a:xfrm>
            <a:custGeom>
              <a:avLst/>
              <a:gdLst/>
              <a:ahLst/>
              <a:cxnLst/>
              <a:rect r="r" b="b" t="t" l="l"/>
              <a:pathLst>
                <a:path h="418831" w="670234">
                  <a:moveTo>
                    <a:pt x="0" y="0"/>
                  </a:moveTo>
                  <a:lnTo>
                    <a:pt x="670234" y="0"/>
                  </a:lnTo>
                  <a:lnTo>
                    <a:pt x="670234" y="418831"/>
                  </a:lnTo>
                  <a:lnTo>
                    <a:pt x="0" y="4188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8" t="0" r="-3017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670230" cy="418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4A4A45"/>
                  </a:solidFill>
                  <a:latin typeface="Lato Light"/>
                  <a:ea typeface="Lato Light"/>
                  <a:cs typeface="Lato Light"/>
                  <a:sym typeface="Lato Light"/>
                </a:rPr>
                <a:t>05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77494" y="6272794"/>
            <a:ext cx="8062017" cy="28594"/>
            <a:chOff x="0" y="0"/>
            <a:chExt cx="10749356" cy="3812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749407" cy="38100"/>
            </a:xfrm>
            <a:custGeom>
              <a:avLst/>
              <a:gdLst/>
              <a:ahLst/>
              <a:cxnLst/>
              <a:rect r="r" b="b" t="t" l="l"/>
              <a:pathLst>
                <a:path h="38100" w="10749407">
                  <a:moveTo>
                    <a:pt x="0" y="0"/>
                  </a:moveTo>
                  <a:lnTo>
                    <a:pt x="10749407" y="0"/>
                  </a:lnTo>
                  <a:lnTo>
                    <a:pt x="1074940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977494" y="6446025"/>
            <a:ext cx="3276991" cy="402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Audio-Based Detection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77494" y="6924770"/>
            <a:ext cx="8062017" cy="436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195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Pipeline and results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262177" y="5874372"/>
            <a:ext cx="502672" cy="314125"/>
            <a:chOff x="0" y="0"/>
            <a:chExt cx="670230" cy="41883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70234" cy="418831"/>
            </a:xfrm>
            <a:custGeom>
              <a:avLst/>
              <a:gdLst/>
              <a:ahLst/>
              <a:cxnLst/>
              <a:rect r="r" b="b" t="t" l="l"/>
              <a:pathLst>
                <a:path h="418831" w="670234">
                  <a:moveTo>
                    <a:pt x="0" y="0"/>
                  </a:moveTo>
                  <a:lnTo>
                    <a:pt x="670234" y="0"/>
                  </a:lnTo>
                  <a:lnTo>
                    <a:pt x="670234" y="418831"/>
                  </a:lnTo>
                  <a:lnTo>
                    <a:pt x="0" y="4188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8" t="0" r="-30177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670230" cy="418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4A4A45"/>
                  </a:solidFill>
                  <a:latin typeface="Lato Light"/>
                  <a:ea typeface="Lato Light"/>
                  <a:cs typeface="Lato Light"/>
                  <a:sym typeface="Lato Light"/>
                </a:rPr>
                <a:t>06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262177" y="6272794"/>
            <a:ext cx="8062160" cy="28594"/>
            <a:chOff x="0" y="0"/>
            <a:chExt cx="10749547" cy="3812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749534" cy="38100"/>
            </a:xfrm>
            <a:custGeom>
              <a:avLst/>
              <a:gdLst/>
              <a:ahLst/>
              <a:cxnLst/>
              <a:rect r="r" b="b" t="t" l="l"/>
              <a:pathLst>
                <a:path h="38100" w="10749534">
                  <a:moveTo>
                    <a:pt x="0" y="0"/>
                  </a:moveTo>
                  <a:lnTo>
                    <a:pt x="10749534" y="0"/>
                  </a:lnTo>
                  <a:lnTo>
                    <a:pt x="1074953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9262177" y="6446025"/>
            <a:ext cx="3142202" cy="402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Multimodal Fusion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262177" y="6924770"/>
            <a:ext cx="8062160" cy="436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195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Feature-level fusion mode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977494" y="7772219"/>
            <a:ext cx="502672" cy="314125"/>
            <a:chOff x="0" y="0"/>
            <a:chExt cx="670230" cy="41883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70234" cy="418831"/>
            </a:xfrm>
            <a:custGeom>
              <a:avLst/>
              <a:gdLst/>
              <a:ahLst/>
              <a:cxnLst/>
              <a:rect r="r" b="b" t="t" l="l"/>
              <a:pathLst>
                <a:path h="418831" w="670234">
                  <a:moveTo>
                    <a:pt x="0" y="0"/>
                  </a:moveTo>
                  <a:lnTo>
                    <a:pt x="670234" y="0"/>
                  </a:lnTo>
                  <a:lnTo>
                    <a:pt x="670234" y="418831"/>
                  </a:lnTo>
                  <a:lnTo>
                    <a:pt x="0" y="4188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8" t="0" r="-30177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670230" cy="418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4A4A45"/>
                  </a:solidFill>
                  <a:latin typeface="Lato Light"/>
                  <a:ea typeface="Lato Light"/>
                  <a:cs typeface="Lato Light"/>
                  <a:sym typeface="Lato Light"/>
                </a:rPr>
                <a:t>07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77494" y="8170650"/>
            <a:ext cx="8062017" cy="28594"/>
            <a:chOff x="0" y="0"/>
            <a:chExt cx="10749356" cy="3812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749407" cy="38100"/>
            </a:xfrm>
            <a:custGeom>
              <a:avLst/>
              <a:gdLst/>
              <a:ahLst/>
              <a:cxnLst/>
              <a:rect r="r" b="b" t="t" l="l"/>
              <a:pathLst>
                <a:path h="38100" w="10749407">
                  <a:moveTo>
                    <a:pt x="0" y="0"/>
                  </a:moveTo>
                  <a:lnTo>
                    <a:pt x="10749407" y="0"/>
                  </a:lnTo>
                  <a:lnTo>
                    <a:pt x="1074940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977494" y="8343881"/>
            <a:ext cx="4094531" cy="402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User Interface &amp; Deployment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77494" y="8822626"/>
            <a:ext cx="8062017" cy="436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195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UI Outputs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9262177" y="7772219"/>
            <a:ext cx="502672" cy="314125"/>
            <a:chOff x="0" y="0"/>
            <a:chExt cx="670230" cy="41883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70234" cy="418831"/>
            </a:xfrm>
            <a:custGeom>
              <a:avLst/>
              <a:gdLst/>
              <a:ahLst/>
              <a:cxnLst/>
              <a:rect r="r" b="b" t="t" l="l"/>
              <a:pathLst>
                <a:path h="418831" w="670234">
                  <a:moveTo>
                    <a:pt x="0" y="0"/>
                  </a:moveTo>
                  <a:lnTo>
                    <a:pt x="670234" y="0"/>
                  </a:lnTo>
                  <a:lnTo>
                    <a:pt x="670234" y="418831"/>
                  </a:lnTo>
                  <a:lnTo>
                    <a:pt x="0" y="4188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8" t="0" r="-30177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670230" cy="418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4A4A45"/>
                  </a:solidFill>
                  <a:latin typeface="Lato Light"/>
                  <a:ea typeface="Lato Light"/>
                  <a:cs typeface="Lato Light"/>
                  <a:sym typeface="Lato Light"/>
                </a:rPr>
                <a:t>08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262177" y="8170650"/>
            <a:ext cx="8062160" cy="28594"/>
            <a:chOff x="0" y="0"/>
            <a:chExt cx="10749547" cy="3812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749534" cy="38100"/>
            </a:xfrm>
            <a:custGeom>
              <a:avLst/>
              <a:gdLst/>
              <a:ahLst/>
              <a:cxnLst/>
              <a:rect r="r" b="b" t="t" l="l"/>
              <a:pathLst>
                <a:path h="38100" w="10749534">
                  <a:moveTo>
                    <a:pt x="0" y="0"/>
                  </a:moveTo>
                  <a:lnTo>
                    <a:pt x="10749534" y="0"/>
                  </a:lnTo>
                  <a:lnTo>
                    <a:pt x="1074953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9262177" y="8343881"/>
            <a:ext cx="3751374" cy="402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Conclusion &amp; Future Scope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262177" y="8822626"/>
            <a:ext cx="8062160" cy="436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195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Outcomes and roadmap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88622"/>
            <a:ext cx="3751897" cy="595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5"/>
              </a:lnSpc>
            </a:pPr>
            <a:r>
              <a:rPr lang="en-US" sz="3802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Aim &amp; 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6066" y="1346465"/>
            <a:ext cx="16315868" cy="74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8"/>
              </a:lnSpc>
            </a:pPr>
            <a:r>
              <a:rPr lang="en-US" sz="2226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Aim:</a:t>
            </a:r>
            <a:r>
              <a:rPr lang="en-US" sz="222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To design and implement a robust multimodal deepfake detection system capable of identifying synthetic media by analyzing combined audio-visual cues.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2991" y="2125732"/>
            <a:ext cx="16315868" cy="1106510"/>
          </a:xfrm>
          <a:custGeom>
            <a:avLst/>
            <a:gdLst/>
            <a:ahLst/>
            <a:cxnLst/>
            <a:rect r="r" b="b" t="t" l="l"/>
            <a:pathLst>
              <a:path h="1106510" w="16315868">
                <a:moveTo>
                  <a:pt x="0" y="0"/>
                </a:moveTo>
                <a:lnTo>
                  <a:pt x="16315868" y="0"/>
                </a:lnTo>
                <a:lnTo>
                  <a:pt x="16315868" y="1106510"/>
                </a:lnTo>
                <a:lnTo>
                  <a:pt x="0" y="1106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786" r="0" b="-786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42612" y="2506142"/>
            <a:ext cx="276587" cy="345700"/>
            <a:chOff x="0" y="0"/>
            <a:chExt cx="368783" cy="4609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8778" cy="460934"/>
            </a:xfrm>
            <a:custGeom>
              <a:avLst/>
              <a:gdLst/>
              <a:ahLst/>
              <a:cxnLst/>
              <a:rect r="r" b="b" t="t" l="l"/>
              <a:pathLst>
                <a:path h="460934" w="368778">
                  <a:moveTo>
                    <a:pt x="0" y="0"/>
                  </a:moveTo>
                  <a:lnTo>
                    <a:pt x="368778" y="0"/>
                  </a:lnTo>
                  <a:lnTo>
                    <a:pt x="368778" y="460934"/>
                  </a:lnTo>
                  <a:lnTo>
                    <a:pt x="0" y="46093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65" t="0" r="-110366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368783" cy="470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2"/>
                </a:lnSpc>
              </a:pPr>
              <a:r>
                <a:rPr lang="en-US" sz="2176" b="true">
                  <a:solidFill>
                    <a:srgbClr val="4A4A45"/>
                  </a:solidFill>
                  <a:latin typeface="Lato Bold"/>
                  <a:ea typeface="Lato Bold"/>
                  <a:cs typeface="Lato Bold"/>
                  <a:sym typeface="Lato Bold"/>
                </a:rPr>
                <a:t>1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869500" y="2310146"/>
            <a:ext cx="2875388" cy="33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1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Image Detection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69500" y="2660618"/>
            <a:ext cx="15235895" cy="305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0"/>
              </a:lnSpc>
            </a:pPr>
            <a:r>
              <a:rPr lang="en-US" sz="182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Detect deepfake images using EfficientNet-B4 and facial landmarks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92991" y="3352000"/>
            <a:ext cx="16315868" cy="1106510"/>
          </a:xfrm>
          <a:custGeom>
            <a:avLst/>
            <a:gdLst/>
            <a:ahLst/>
            <a:cxnLst/>
            <a:rect r="r" b="b" t="t" l="l"/>
            <a:pathLst>
              <a:path h="1106510" w="16315868">
                <a:moveTo>
                  <a:pt x="0" y="0"/>
                </a:moveTo>
                <a:lnTo>
                  <a:pt x="16315868" y="0"/>
                </a:lnTo>
                <a:lnTo>
                  <a:pt x="16315868" y="1106510"/>
                </a:lnTo>
                <a:lnTo>
                  <a:pt x="0" y="1106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786" r="0" b="-786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42612" y="3732400"/>
            <a:ext cx="276587" cy="345700"/>
            <a:chOff x="0" y="0"/>
            <a:chExt cx="368783" cy="46093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8778" cy="460934"/>
            </a:xfrm>
            <a:custGeom>
              <a:avLst/>
              <a:gdLst/>
              <a:ahLst/>
              <a:cxnLst/>
              <a:rect r="r" b="b" t="t" l="l"/>
              <a:pathLst>
                <a:path h="460934" w="368778">
                  <a:moveTo>
                    <a:pt x="0" y="0"/>
                  </a:moveTo>
                  <a:lnTo>
                    <a:pt x="368778" y="0"/>
                  </a:lnTo>
                  <a:lnTo>
                    <a:pt x="368778" y="460934"/>
                  </a:lnTo>
                  <a:lnTo>
                    <a:pt x="0" y="46093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65" t="0" r="-110366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368783" cy="470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2"/>
                </a:lnSpc>
              </a:pPr>
              <a:r>
                <a:rPr lang="en-US" sz="2176" b="true">
                  <a:solidFill>
                    <a:srgbClr val="4A4A45"/>
                  </a:solidFill>
                  <a:latin typeface="Lato Bold"/>
                  <a:ea typeface="Lato Bold"/>
                  <a:cs typeface="Lato Bold"/>
                  <a:sym typeface="Lato Bold"/>
                </a:rPr>
                <a:t>2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869500" y="3536404"/>
            <a:ext cx="2305450" cy="33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1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Video Detection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69500" y="3886876"/>
            <a:ext cx="15235895" cy="305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0"/>
              </a:lnSpc>
            </a:pPr>
            <a:r>
              <a:rPr lang="en-US" sz="182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Detect deepfake videos using temporal feature analysis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992991" y="4578258"/>
            <a:ext cx="16315868" cy="1106510"/>
          </a:xfrm>
          <a:custGeom>
            <a:avLst/>
            <a:gdLst/>
            <a:ahLst/>
            <a:cxnLst/>
            <a:rect r="r" b="b" t="t" l="l"/>
            <a:pathLst>
              <a:path h="1106510" w="16315868">
                <a:moveTo>
                  <a:pt x="0" y="0"/>
                </a:moveTo>
                <a:lnTo>
                  <a:pt x="16315868" y="0"/>
                </a:lnTo>
                <a:lnTo>
                  <a:pt x="16315868" y="1106510"/>
                </a:lnTo>
                <a:lnTo>
                  <a:pt x="0" y="1106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786" r="0" b="-786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242612" y="4958658"/>
            <a:ext cx="276587" cy="345700"/>
            <a:chOff x="0" y="0"/>
            <a:chExt cx="368783" cy="46093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8778" cy="460934"/>
            </a:xfrm>
            <a:custGeom>
              <a:avLst/>
              <a:gdLst/>
              <a:ahLst/>
              <a:cxnLst/>
              <a:rect r="r" b="b" t="t" l="l"/>
              <a:pathLst>
                <a:path h="460934" w="368778">
                  <a:moveTo>
                    <a:pt x="0" y="0"/>
                  </a:moveTo>
                  <a:lnTo>
                    <a:pt x="368778" y="0"/>
                  </a:lnTo>
                  <a:lnTo>
                    <a:pt x="368778" y="460934"/>
                  </a:lnTo>
                  <a:lnTo>
                    <a:pt x="0" y="46093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65" t="0" r="-110366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368783" cy="470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2"/>
                </a:lnSpc>
              </a:pPr>
              <a:r>
                <a:rPr lang="en-US" sz="2176" b="true">
                  <a:solidFill>
                    <a:srgbClr val="4A4A45"/>
                  </a:solidFill>
                  <a:latin typeface="Lato Bold"/>
                  <a:ea typeface="Lato Bold"/>
                  <a:cs typeface="Lato Bold"/>
                  <a:sym typeface="Lato Bold"/>
                </a:rPr>
                <a:t>3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869500" y="4762662"/>
            <a:ext cx="2875388" cy="33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1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Audio Detection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69500" y="5113134"/>
            <a:ext cx="15235895" cy="305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0"/>
              </a:lnSpc>
            </a:pPr>
            <a:r>
              <a:rPr lang="en-US" sz="182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Detect spoofed audio using Log-Mel spectrograms</a:t>
            </a:r>
          </a:p>
        </p:txBody>
      </p:sp>
      <p:sp>
        <p:nvSpPr>
          <p:cNvPr name="Freeform 26" id="26" descr="preencoded.png"/>
          <p:cNvSpPr/>
          <p:nvPr/>
        </p:nvSpPr>
        <p:spPr>
          <a:xfrm flipH="false" flipV="false" rot="0">
            <a:off x="992991" y="5804516"/>
            <a:ext cx="16315868" cy="1106510"/>
          </a:xfrm>
          <a:custGeom>
            <a:avLst/>
            <a:gdLst/>
            <a:ahLst/>
            <a:cxnLst/>
            <a:rect r="r" b="b" t="t" l="l"/>
            <a:pathLst>
              <a:path h="1106510" w="16315868">
                <a:moveTo>
                  <a:pt x="0" y="0"/>
                </a:moveTo>
                <a:lnTo>
                  <a:pt x="16315868" y="0"/>
                </a:lnTo>
                <a:lnTo>
                  <a:pt x="16315868" y="1106510"/>
                </a:lnTo>
                <a:lnTo>
                  <a:pt x="0" y="1106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786" r="0" b="-786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242612" y="6184916"/>
            <a:ext cx="276587" cy="345700"/>
            <a:chOff x="0" y="0"/>
            <a:chExt cx="368783" cy="46093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8778" cy="460934"/>
            </a:xfrm>
            <a:custGeom>
              <a:avLst/>
              <a:gdLst/>
              <a:ahLst/>
              <a:cxnLst/>
              <a:rect r="r" b="b" t="t" l="l"/>
              <a:pathLst>
                <a:path h="460934" w="368778">
                  <a:moveTo>
                    <a:pt x="0" y="0"/>
                  </a:moveTo>
                  <a:lnTo>
                    <a:pt x="368778" y="0"/>
                  </a:lnTo>
                  <a:lnTo>
                    <a:pt x="368778" y="460934"/>
                  </a:lnTo>
                  <a:lnTo>
                    <a:pt x="0" y="46093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65" t="0" r="-110366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368783" cy="470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2"/>
                </a:lnSpc>
              </a:pPr>
              <a:r>
                <a:rPr lang="en-US" sz="2176" b="true">
                  <a:solidFill>
                    <a:srgbClr val="4A4A45"/>
                  </a:solidFill>
                  <a:latin typeface="Lato Bold"/>
                  <a:ea typeface="Lato Bold"/>
                  <a:cs typeface="Lato Bold"/>
                  <a:sym typeface="Lato Bold"/>
                </a:rPr>
                <a:t>4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869500" y="5988920"/>
            <a:ext cx="2729162" cy="33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1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Feature Fusion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69500" y="6339392"/>
            <a:ext cx="15235895" cy="305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0"/>
              </a:lnSpc>
            </a:pPr>
            <a:r>
              <a:rPr lang="en-US" sz="182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Perform feature-level fusion of all modalities</a:t>
            </a:r>
          </a:p>
        </p:txBody>
      </p:sp>
      <p:sp>
        <p:nvSpPr>
          <p:cNvPr name="Freeform 32" id="32" descr="preencoded.png"/>
          <p:cNvSpPr/>
          <p:nvPr/>
        </p:nvSpPr>
        <p:spPr>
          <a:xfrm flipH="false" flipV="false" rot="0">
            <a:off x="992991" y="7030774"/>
            <a:ext cx="16315868" cy="1106510"/>
          </a:xfrm>
          <a:custGeom>
            <a:avLst/>
            <a:gdLst/>
            <a:ahLst/>
            <a:cxnLst/>
            <a:rect r="r" b="b" t="t" l="l"/>
            <a:pathLst>
              <a:path h="1106510" w="16315868">
                <a:moveTo>
                  <a:pt x="0" y="0"/>
                </a:moveTo>
                <a:lnTo>
                  <a:pt x="16315868" y="0"/>
                </a:lnTo>
                <a:lnTo>
                  <a:pt x="16315868" y="1106510"/>
                </a:lnTo>
                <a:lnTo>
                  <a:pt x="0" y="1106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786" r="0" b="-786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242612" y="7411183"/>
            <a:ext cx="276587" cy="345700"/>
            <a:chOff x="0" y="0"/>
            <a:chExt cx="368783" cy="46093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8778" cy="460934"/>
            </a:xfrm>
            <a:custGeom>
              <a:avLst/>
              <a:gdLst/>
              <a:ahLst/>
              <a:cxnLst/>
              <a:rect r="r" b="b" t="t" l="l"/>
              <a:pathLst>
                <a:path h="460934" w="368778">
                  <a:moveTo>
                    <a:pt x="0" y="0"/>
                  </a:moveTo>
                  <a:lnTo>
                    <a:pt x="368778" y="0"/>
                  </a:lnTo>
                  <a:lnTo>
                    <a:pt x="368778" y="460934"/>
                  </a:lnTo>
                  <a:lnTo>
                    <a:pt x="0" y="46093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65" t="0" r="-110366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368783" cy="470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2"/>
                </a:lnSpc>
              </a:pPr>
              <a:r>
                <a:rPr lang="en-US" sz="2176" b="true">
                  <a:solidFill>
                    <a:srgbClr val="4A4A45"/>
                  </a:solidFill>
                  <a:latin typeface="Lato Bold"/>
                  <a:ea typeface="Lato Bold"/>
                  <a:cs typeface="Lato Bold"/>
                  <a:sym typeface="Lato Bold"/>
                </a:rPr>
                <a:t>5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869500" y="7215188"/>
            <a:ext cx="3029407" cy="33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1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Improved Accuracy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869500" y="7565660"/>
            <a:ext cx="15235895" cy="305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0"/>
              </a:lnSpc>
            </a:pPr>
            <a:r>
              <a:rPr lang="en-US" sz="182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Outperform single-modality detection systems</a:t>
            </a:r>
          </a:p>
        </p:txBody>
      </p:sp>
      <p:sp>
        <p:nvSpPr>
          <p:cNvPr name="Freeform 38" id="38" descr="preencoded.png"/>
          <p:cNvSpPr/>
          <p:nvPr/>
        </p:nvSpPr>
        <p:spPr>
          <a:xfrm flipH="false" flipV="false" rot="0">
            <a:off x="992991" y="8257032"/>
            <a:ext cx="16315868" cy="1106510"/>
          </a:xfrm>
          <a:custGeom>
            <a:avLst/>
            <a:gdLst/>
            <a:ahLst/>
            <a:cxnLst/>
            <a:rect r="r" b="b" t="t" l="l"/>
            <a:pathLst>
              <a:path h="1106510" w="16315868">
                <a:moveTo>
                  <a:pt x="0" y="0"/>
                </a:moveTo>
                <a:lnTo>
                  <a:pt x="16315868" y="0"/>
                </a:lnTo>
                <a:lnTo>
                  <a:pt x="16315868" y="1106510"/>
                </a:lnTo>
                <a:lnTo>
                  <a:pt x="0" y="1106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786" r="0" b="-786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242612" y="8637441"/>
            <a:ext cx="276587" cy="345700"/>
            <a:chOff x="0" y="0"/>
            <a:chExt cx="368783" cy="46093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68778" cy="460934"/>
            </a:xfrm>
            <a:custGeom>
              <a:avLst/>
              <a:gdLst/>
              <a:ahLst/>
              <a:cxnLst/>
              <a:rect r="r" b="b" t="t" l="l"/>
              <a:pathLst>
                <a:path h="460934" w="368778">
                  <a:moveTo>
                    <a:pt x="0" y="0"/>
                  </a:moveTo>
                  <a:lnTo>
                    <a:pt x="368778" y="0"/>
                  </a:lnTo>
                  <a:lnTo>
                    <a:pt x="368778" y="460934"/>
                  </a:lnTo>
                  <a:lnTo>
                    <a:pt x="0" y="46093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65" t="0" r="-110366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368783" cy="470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2"/>
                </a:lnSpc>
              </a:pPr>
              <a:r>
                <a:rPr lang="en-US" sz="2176" b="true">
                  <a:solidFill>
                    <a:srgbClr val="4A4A45"/>
                  </a:solidFill>
                  <a:latin typeface="Lato Bold"/>
                  <a:ea typeface="Lato Bold"/>
                  <a:cs typeface="Lato Bold"/>
                  <a:sym typeface="Lato Bold"/>
                </a:rPr>
                <a:t>6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869500" y="8441446"/>
            <a:ext cx="2729162" cy="33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1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Final Prediction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869500" y="8791918"/>
            <a:ext cx="15235895" cy="305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0"/>
              </a:lnSpc>
            </a:pPr>
            <a:r>
              <a:rPr lang="en-US" sz="182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Generate unified Real/Fake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7494" y="799843"/>
            <a:ext cx="7199643" cy="804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8"/>
              </a:lnSpc>
            </a:pPr>
            <a:r>
              <a:rPr lang="en-US" sz="4878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System Architecture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53747" y="2189036"/>
            <a:ext cx="8749227" cy="4772777"/>
            <a:chOff x="0" y="0"/>
            <a:chExt cx="11665636" cy="6363703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1665585" cy="6363716"/>
            </a:xfrm>
            <a:custGeom>
              <a:avLst/>
              <a:gdLst/>
              <a:ahLst/>
              <a:cxnLst/>
              <a:rect r="r" b="b" t="t" l="l"/>
              <a:pathLst>
                <a:path h="6363716" w="11665585">
                  <a:moveTo>
                    <a:pt x="0" y="0"/>
                  </a:moveTo>
                  <a:lnTo>
                    <a:pt x="11665585" y="0"/>
                  </a:lnTo>
                  <a:lnTo>
                    <a:pt x="11665585" y="6363716"/>
                  </a:lnTo>
                  <a:lnTo>
                    <a:pt x="0" y="6363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2" r="0" b="-2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502247" y="2243004"/>
            <a:ext cx="5831481" cy="460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195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The system is designed using a modular architecture consisting of three independent branches for image, video, and audio analysis. Each branch performs modality-specific preprocessing and feature extraction to identify manipulation artifacts. The generated feature embeddings are normalized and concatenated through a feature-level fusion mechanism, allowing the model to leverage complementary information from all modalities. The fused feature vector is then passed to the final classifier to generate a robust real-or-fake prediction with improved detection accuracy.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77494" y="7462866"/>
            <a:ext cx="3919671" cy="895302"/>
            <a:chOff x="0" y="0"/>
            <a:chExt cx="5226228" cy="11937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26304" cy="1193800"/>
            </a:xfrm>
            <a:custGeom>
              <a:avLst/>
              <a:gdLst/>
              <a:ahLst/>
              <a:cxnLst/>
              <a:rect r="r" b="b" t="t" l="l"/>
              <a:pathLst>
                <a:path h="1193800" w="5226304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lnTo>
                    <a:pt x="5176012" y="0"/>
                  </a:lnTo>
                  <a:cubicBezTo>
                    <a:pt x="5203825" y="0"/>
                    <a:pt x="5226304" y="22479"/>
                    <a:pt x="5226304" y="50292"/>
                  </a:cubicBezTo>
                  <a:lnTo>
                    <a:pt x="5226304" y="1143508"/>
                  </a:lnTo>
                  <a:cubicBezTo>
                    <a:pt x="5226304" y="1171321"/>
                    <a:pt x="5203825" y="1193800"/>
                    <a:pt x="5176012" y="1193800"/>
                  </a:cubicBezTo>
                  <a:lnTo>
                    <a:pt x="50292" y="1193800"/>
                  </a:lnTo>
                  <a:cubicBezTo>
                    <a:pt x="22479" y="1193800"/>
                    <a:pt x="0" y="1171194"/>
                    <a:pt x="0" y="1143508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28763" y="7704611"/>
            <a:ext cx="3142202" cy="402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EfficientNet-B4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119840" y="7462866"/>
            <a:ext cx="3919671" cy="895302"/>
            <a:chOff x="0" y="0"/>
            <a:chExt cx="5226228" cy="11937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26304" cy="1193800"/>
            </a:xfrm>
            <a:custGeom>
              <a:avLst/>
              <a:gdLst/>
              <a:ahLst/>
              <a:cxnLst/>
              <a:rect r="r" b="b" t="t" l="l"/>
              <a:pathLst>
                <a:path h="1193800" w="5226304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lnTo>
                    <a:pt x="5176012" y="0"/>
                  </a:lnTo>
                  <a:cubicBezTo>
                    <a:pt x="5203825" y="0"/>
                    <a:pt x="5226304" y="22479"/>
                    <a:pt x="5226304" y="50292"/>
                  </a:cubicBezTo>
                  <a:lnTo>
                    <a:pt x="5226304" y="1143508"/>
                  </a:lnTo>
                  <a:cubicBezTo>
                    <a:pt x="5226304" y="1171321"/>
                    <a:pt x="5203825" y="1193800"/>
                    <a:pt x="5176012" y="1193800"/>
                  </a:cubicBezTo>
                  <a:lnTo>
                    <a:pt x="50292" y="1193800"/>
                  </a:lnTo>
                  <a:cubicBezTo>
                    <a:pt x="22479" y="1193800"/>
                    <a:pt x="0" y="1171194"/>
                    <a:pt x="0" y="1143508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371100" y="7704611"/>
            <a:ext cx="3142202" cy="402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MTCNN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62177" y="7462866"/>
            <a:ext cx="3919671" cy="895302"/>
            <a:chOff x="0" y="0"/>
            <a:chExt cx="5226228" cy="11937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26304" cy="1193800"/>
            </a:xfrm>
            <a:custGeom>
              <a:avLst/>
              <a:gdLst/>
              <a:ahLst/>
              <a:cxnLst/>
              <a:rect r="r" b="b" t="t" l="l"/>
              <a:pathLst>
                <a:path h="1193800" w="5226304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lnTo>
                    <a:pt x="5176012" y="0"/>
                  </a:lnTo>
                  <a:cubicBezTo>
                    <a:pt x="5203825" y="0"/>
                    <a:pt x="5226304" y="22479"/>
                    <a:pt x="5226304" y="50292"/>
                  </a:cubicBezTo>
                  <a:lnTo>
                    <a:pt x="5226304" y="1143508"/>
                  </a:lnTo>
                  <a:cubicBezTo>
                    <a:pt x="5226304" y="1171321"/>
                    <a:pt x="5203825" y="1193800"/>
                    <a:pt x="5176012" y="1193800"/>
                  </a:cubicBezTo>
                  <a:lnTo>
                    <a:pt x="50292" y="1193800"/>
                  </a:lnTo>
                  <a:cubicBezTo>
                    <a:pt x="22479" y="1193800"/>
                    <a:pt x="0" y="1171194"/>
                    <a:pt x="0" y="1143508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513446" y="7704611"/>
            <a:ext cx="3142202" cy="402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TensorFlow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404523" y="7462866"/>
            <a:ext cx="3919823" cy="895302"/>
            <a:chOff x="0" y="0"/>
            <a:chExt cx="5226431" cy="11937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226431" cy="1193800"/>
            </a:xfrm>
            <a:custGeom>
              <a:avLst/>
              <a:gdLst/>
              <a:ahLst/>
              <a:cxnLst/>
              <a:rect r="r" b="b" t="t" l="l"/>
              <a:pathLst>
                <a:path h="1193800" w="5226431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lnTo>
                    <a:pt x="5176139" y="0"/>
                  </a:lnTo>
                  <a:cubicBezTo>
                    <a:pt x="5203952" y="0"/>
                    <a:pt x="5226431" y="22479"/>
                    <a:pt x="5226431" y="50292"/>
                  </a:cubicBezTo>
                  <a:lnTo>
                    <a:pt x="5226431" y="1143508"/>
                  </a:lnTo>
                  <a:cubicBezTo>
                    <a:pt x="5226431" y="1171321"/>
                    <a:pt x="5203952" y="1193800"/>
                    <a:pt x="5176139" y="1193800"/>
                  </a:cubicBezTo>
                  <a:lnTo>
                    <a:pt x="50292" y="1193800"/>
                  </a:lnTo>
                  <a:cubicBezTo>
                    <a:pt x="22479" y="1193800"/>
                    <a:pt x="0" y="1171194"/>
                    <a:pt x="0" y="1143508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655783" y="7704611"/>
            <a:ext cx="3142202" cy="402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PyTorch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77494" y="8580844"/>
            <a:ext cx="8062017" cy="895302"/>
            <a:chOff x="0" y="0"/>
            <a:chExt cx="10749356" cy="119373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49407" cy="1193800"/>
            </a:xfrm>
            <a:custGeom>
              <a:avLst/>
              <a:gdLst/>
              <a:ahLst/>
              <a:cxnLst/>
              <a:rect r="r" b="b" t="t" l="l"/>
              <a:pathLst>
                <a:path h="1193800" w="10749407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lnTo>
                    <a:pt x="10699115" y="0"/>
                  </a:lnTo>
                  <a:cubicBezTo>
                    <a:pt x="10726928" y="0"/>
                    <a:pt x="10749407" y="22479"/>
                    <a:pt x="10749407" y="50292"/>
                  </a:cubicBezTo>
                  <a:lnTo>
                    <a:pt x="10749407" y="1143508"/>
                  </a:lnTo>
                  <a:cubicBezTo>
                    <a:pt x="10749407" y="1171321"/>
                    <a:pt x="10726928" y="1193800"/>
                    <a:pt x="10699115" y="1193800"/>
                  </a:cubicBezTo>
                  <a:lnTo>
                    <a:pt x="50292" y="1193800"/>
                  </a:lnTo>
                  <a:cubicBezTo>
                    <a:pt x="22479" y="1193800"/>
                    <a:pt x="0" y="1171194"/>
                    <a:pt x="0" y="1143508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28763" y="8822588"/>
            <a:ext cx="3142202" cy="402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Scikit-Learn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262177" y="8580844"/>
            <a:ext cx="8062160" cy="895302"/>
            <a:chOff x="0" y="0"/>
            <a:chExt cx="10749547" cy="119373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49534" cy="1193800"/>
            </a:xfrm>
            <a:custGeom>
              <a:avLst/>
              <a:gdLst/>
              <a:ahLst/>
              <a:cxnLst/>
              <a:rect r="r" b="b" t="t" l="l"/>
              <a:pathLst>
                <a:path h="1193800" w="10749534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lnTo>
                    <a:pt x="10699242" y="0"/>
                  </a:lnTo>
                  <a:cubicBezTo>
                    <a:pt x="10727055" y="0"/>
                    <a:pt x="10749534" y="22479"/>
                    <a:pt x="10749534" y="50292"/>
                  </a:cubicBezTo>
                  <a:lnTo>
                    <a:pt x="10749534" y="1143508"/>
                  </a:lnTo>
                  <a:cubicBezTo>
                    <a:pt x="10749534" y="1171321"/>
                    <a:pt x="10727055" y="1193800"/>
                    <a:pt x="10699242" y="1193800"/>
                  </a:cubicBezTo>
                  <a:lnTo>
                    <a:pt x="50292" y="1193800"/>
                  </a:lnTo>
                  <a:cubicBezTo>
                    <a:pt x="22479" y="1193800"/>
                    <a:pt x="0" y="1171194"/>
                    <a:pt x="0" y="1143508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513446" y="8822588"/>
            <a:ext cx="3142202" cy="402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Librosa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039511"/>
            <a:ext cx="9947158" cy="78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1"/>
              </a:lnSpc>
            </a:pPr>
            <a:r>
              <a:rPr lang="en-US" sz="4728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Image-Based Deepfake Detection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89362" y="2964285"/>
            <a:ext cx="9350786" cy="5100838"/>
            <a:chOff x="0" y="0"/>
            <a:chExt cx="11594148" cy="632458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1594084" cy="6324600"/>
            </a:xfrm>
            <a:custGeom>
              <a:avLst/>
              <a:gdLst/>
              <a:ahLst/>
              <a:cxnLst/>
              <a:rect r="r" b="b" t="t" l="l"/>
              <a:pathLst>
                <a:path h="6324600" w="11594084">
                  <a:moveTo>
                    <a:pt x="0" y="0"/>
                  </a:moveTo>
                  <a:lnTo>
                    <a:pt x="11594084" y="0"/>
                  </a:lnTo>
                  <a:lnTo>
                    <a:pt x="11594084" y="6324600"/>
                  </a:lnTo>
                  <a:lnTo>
                    <a:pt x="0" y="6324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0" r="0" b="-5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821135" y="2305536"/>
            <a:ext cx="3929805" cy="40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Pipeline Stages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11911536" y="2948873"/>
            <a:ext cx="361779" cy="361788"/>
          </a:xfrm>
          <a:custGeom>
            <a:avLst/>
            <a:gdLst/>
            <a:ahLst/>
            <a:cxnLst/>
            <a:rect r="r" b="b" t="t" l="l"/>
            <a:pathLst>
              <a:path h="361788" w="361779">
                <a:moveTo>
                  <a:pt x="0" y="0"/>
                </a:moveTo>
                <a:lnTo>
                  <a:pt x="361779" y="0"/>
                </a:lnTo>
                <a:lnTo>
                  <a:pt x="361779" y="361788"/>
                </a:lnTo>
                <a:lnTo>
                  <a:pt x="0" y="3617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212" t="0" r="-9212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604861" y="2912926"/>
            <a:ext cx="3014710" cy="40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Preprocessing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04861" y="3466128"/>
            <a:ext cx="4713380" cy="77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Face detection, cropping, resize to 380×380, data augmentation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1911536" y="4654296"/>
            <a:ext cx="361779" cy="361788"/>
          </a:xfrm>
          <a:custGeom>
            <a:avLst/>
            <a:gdLst/>
            <a:ahLst/>
            <a:cxnLst/>
            <a:rect r="r" b="b" t="t" l="l"/>
            <a:pathLst>
              <a:path h="361788" w="361779">
                <a:moveTo>
                  <a:pt x="0" y="0"/>
                </a:moveTo>
                <a:lnTo>
                  <a:pt x="361779" y="0"/>
                </a:lnTo>
                <a:lnTo>
                  <a:pt x="361779" y="361788"/>
                </a:lnTo>
                <a:lnTo>
                  <a:pt x="0" y="3617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212" t="0" r="-9212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604861" y="4618349"/>
            <a:ext cx="3014710" cy="40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Feature Extraction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04861" y="5171542"/>
            <a:ext cx="4713380" cy="77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EfficientNet-B4 (1792 features) + Dlib 68 landmarks (136 features)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11911536" y="6359709"/>
            <a:ext cx="361779" cy="361788"/>
          </a:xfrm>
          <a:custGeom>
            <a:avLst/>
            <a:gdLst/>
            <a:ahLst/>
            <a:cxnLst/>
            <a:rect r="r" b="b" t="t" l="l"/>
            <a:pathLst>
              <a:path h="361788" w="361779">
                <a:moveTo>
                  <a:pt x="0" y="0"/>
                </a:moveTo>
                <a:lnTo>
                  <a:pt x="361779" y="0"/>
                </a:lnTo>
                <a:lnTo>
                  <a:pt x="361779" y="361788"/>
                </a:lnTo>
                <a:lnTo>
                  <a:pt x="0" y="3617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212" t="0" r="-9212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604861" y="6323762"/>
            <a:ext cx="3014710" cy="40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Feature Engineering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04861" y="6876964"/>
            <a:ext cx="4713380" cy="77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Concatenation + PCA reduction (1928 → 128 dimensions)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11911536" y="8065122"/>
            <a:ext cx="361779" cy="361788"/>
          </a:xfrm>
          <a:custGeom>
            <a:avLst/>
            <a:gdLst/>
            <a:ahLst/>
            <a:cxnLst/>
            <a:rect r="r" b="b" t="t" l="l"/>
            <a:pathLst>
              <a:path h="361788" w="361779">
                <a:moveTo>
                  <a:pt x="0" y="0"/>
                </a:moveTo>
                <a:lnTo>
                  <a:pt x="361779" y="0"/>
                </a:lnTo>
                <a:lnTo>
                  <a:pt x="361779" y="361788"/>
                </a:lnTo>
                <a:lnTo>
                  <a:pt x="0" y="3617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212" t="0" r="-9212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604861" y="8029175"/>
            <a:ext cx="3014710" cy="40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Classification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04861" y="8582377"/>
            <a:ext cx="4713380" cy="414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Linear SVM → Real/Fake prediction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61581"/>
            <a:ext cx="9296733" cy="924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Image Model Performance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1780794"/>
            <a:ext cx="4461815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Performance Metrics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991" y="2923804"/>
            <a:ext cx="6590033" cy="7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sz="4428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Accuracy: 86.59%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3859663"/>
            <a:ext cx="6621161" cy="99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Strong overall performance on image deepfake detection.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5118049"/>
            <a:ext cx="4461815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Key Findings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5778370"/>
            <a:ext cx="6621161" cy="3008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Excellent fake image detection capability across test samples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PCA reduced computational complexity significantly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Landmark fusion improved robustness against geometric manipulations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643185" y="2987831"/>
            <a:ext cx="8347681" cy="6188192"/>
            <a:chOff x="0" y="0"/>
            <a:chExt cx="11130242" cy="8250923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1130280" cy="8250936"/>
            </a:xfrm>
            <a:custGeom>
              <a:avLst/>
              <a:gdLst/>
              <a:ahLst/>
              <a:cxnLst/>
              <a:rect r="r" b="b" t="t" l="l"/>
              <a:pathLst>
                <a:path h="8250936" w="11130280">
                  <a:moveTo>
                    <a:pt x="0" y="0"/>
                  </a:moveTo>
                  <a:lnTo>
                    <a:pt x="11130280" y="0"/>
                  </a:lnTo>
                  <a:lnTo>
                    <a:pt x="11130280" y="8250936"/>
                  </a:lnTo>
                  <a:lnTo>
                    <a:pt x="0" y="8250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9" t="0" r="-29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989162"/>
            <a:ext cx="10397557" cy="823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2"/>
              </a:lnSpc>
            </a:pPr>
            <a:r>
              <a:rPr lang="en-US" sz="4953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Video-Based Deepfake Detection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77479" y="2634525"/>
            <a:ext cx="9628581" cy="5252380"/>
            <a:chOff x="0" y="0"/>
            <a:chExt cx="9345333" cy="5097869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9345295" cy="5097907"/>
            </a:xfrm>
            <a:custGeom>
              <a:avLst/>
              <a:gdLst/>
              <a:ahLst/>
              <a:cxnLst/>
              <a:rect r="r" b="b" t="t" l="l"/>
              <a:pathLst>
                <a:path h="5097907" w="9345295">
                  <a:moveTo>
                    <a:pt x="0" y="0"/>
                  </a:moveTo>
                  <a:lnTo>
                    <a:pt x="9345295" y="0"/>
                  </a:lnTo>
                  <a:lnTo>
                    <a:pt x="9345295" y="5097907"/>
                  </a:lnTo>
                  <a:lnTo>
                    <a:pt x="0" y="50979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" r="0" b="-6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235482" y="2103101"/>
            <a:ext cx="4401050" cy="366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6"/>
              </a:lnSpc>
            </a:pPr>
            <a:r>
              <a:rPr lang="en-US" sz="2376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Detection Pipeline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235482" y="2593124"/>
            <a:ext cx="368779" cy="230419"/>
            <a:chOff x="0" y="0"/>
            <a:chExt cx="491706" cy="30722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1702" cy="307222"/>
            </a:xfrm>
            <a:custGeom>
              <a:avLst/>
              <a:gdLst/>
              <a:ahLst/>
              <a:cxnLst/>
              <a:rect r="r" b="b" t="t" l="l"/>
              <a:pathLst>
                <a:path h="307222" w="491702">
                  <a:moveTo>
                    <a:pt x="0" y="0"/>
                  </a:moveTo>
                  <a:lnTo>
                    <a:pt x="491702" y="0"/>
                  </a:lnTo>
                  <a:lnTo>
                    <a:pt x="491702" y="307222"/>
                  </a:lnTo>
                  <a:lnTo>
                    <a:pt x="0" y="3072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66" t="0" r="-30167" b="-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91706" cy="3072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4A4A45"/>
                  </a:solidFill>
                  <a:latin typeface="Lato Light"/>
                  <a:ea typeface="Lato Light"/>
                  <a:cs typeface="Lato Light"/>
                  <a:sym typeface="Lato Light"/>
                </a:rPr>
                <a:t>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35482" y="2887285"/>
            <a:ext cx="5082750" cy="19069"/>
            <a:chOff x="0" y="0"/>
            <a:chExt cx="6776999" cy="254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76974" cy="25400"/>
            </a:xfrm>
            <a:custGeom>
              <a:avLst/>
              <a:gdLst/>
              <a:ahLst/>
              <a:cxnLst/>
              <a:rect r="r" b="b" t="t" l="l"/>
              <a:pathLst>
                <a:path h="25400" w="6776974">
                  <a:moveTo>
                    <a:pt x="0" y="0"/>
                  </a:moveTo>
                  <a:lnTo>
                    <a:pt x="6776974" y="0"/>
                  </a:lnTo>
                  <a:lnTo>
                    <a:pt x="6776974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235482" y="3008090"/>
            <a:ext cx="2305450" cy="311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01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Frame Extraction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35482" y="3406521"/>
            <a:ext cx="5082750" cy="260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6"/>
              </a:lnSpc>
            </a:pPr>
            <a:r>
              <a:rPr lang="en-US" sz="162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Sample frames from input video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235482" y="3926919"/>
            <a:ext cx="368779" cy="230419"/>
            <a:chOff x="0" y="0"/>
            <a:chExt cx="491706" cy="3072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1702" cy="307222"/>
            </a:xfrm>
            <a:custGeom>
              <a:avLst/>
              <a:gdLst/>
              <a:ahLst/>
              <a:cxnLst/>
              <a:rect r="r" b="b" t="t" l="l"/>
              <a:pathLst>
                <a:path h="307222" w="491702">
                  <a:moveTo>
                    <a:pt x="0" y="0"/>
                  </a:moveTo>
                  <a:lnTo>
                    <a:pt x="491702" y="0"/>
                  </a:lnTo>
                  <a:lnTo>
                    <a:pt x="491702" y="307222"/>
                  </a:lnTo>
                  <a:lnTo>
                    <a:pt x="0" y="3072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66" t="0" r="-30167" b="-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491706" cy="3072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4A4A45"/>
                  </a:solidFill>
                  <a:latin typeface="Lato Light"/>
                  <a:ea typeface="Lato Light"/>
                  <a:cs typeface="Lato Light"/>
                  <a:sym typeface="Lato Light"/>
                </a:rPr>
                <a:t>02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235482" y="4221089"/>
            <a:ext cx="5082750" cy="19069"/>
            <a:chOff x="0" y="0"/>
            <a:chExt cx="6776999" cy="254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776974" cy="25400"/>
            </a:xfrm>
            <a:custGeom>
              <a:avLst/>
              <a:gdLst/>
              <a:ahLst/>
              <a:cxnLst/>
              <a:rect r="r" b="b" t="t" l="l"/>
              <a:pathLst>
                <a:path h="25400" w="6776974">
                  <a:moveTo>
                    <a:pt x="0" y="0"/>
                  </a:moveTo>
                  <a:lnTo>
                    <a:pt x="6776974" y="0"/>
                  </a:lnTo>
                  <a:lnTo>
                    <a:pt x="6776974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235482" y="4341886"/>
            <a:ext cx="3681517" cy="311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01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MTCNN Face Alignment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235482" y="4740326"/>
            <a:ext cx="5082750" cy="260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6"/>
              </a:lnSpc>
            </a:pPr>
            <a:r>
              <a:rPr lang="en-US" sz="162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Align and normalize detected faces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235482" y="5260715"/>
            <a:ext cx="368779" cy="230419"/>
            <a:chOff x="0" y="0"/>
            <a:chExt cx="491706" cy="30722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1702" cy="307222"/>
            </a:xfrm>
            <a:custGeom>
              <a:avLst/>
              <a:gdLst/>
              <a:ahLst/>
              <a:cxnLst/>
              <a:rect r="r" b="b" t="t" l="l"/>
              <a:pathLst>
                <a:path h="307222" w="491702">
                  <a:moveTo>
                    <a:pt x="0" y="0"/>
                  </a:moveTo>
                  <a:lnTo>
                    <a:pt x="491702" y="0"/>
                  </a:lnTo>
                  <a:lnTo>
                    <a:pt x="491702" y="307222"/>
                  </a:lnTo>
                  <a:lnTo>
                    <a:pt x="0" y="3072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66" t="0" r="-30167" b="-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491706" cy="3072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4A4A45"/>
                  </a:solidFill>
                  <a:latin typeface="Lato Light"/>
                  <a:ea typeface="Lato Light"/>
                  <a:cs typeface="Lato Light"/>
                  <a:sym typeface="Lato Light"/>
                </a:rPr>
                <a:t>03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235482" y="5554885"/>
            <a:ext cx="5082750" cy="19069"/>
            <a:chOff x="0" y="0"/>
            <a:chExt cx="6776999" cy="2542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76974" cy="25400"/>
            </a:xfrm>
            <a:custGeom>
              <a:avLst/>
              <a:gdLst/>
              <a:ahLst/>
              <a:cxnLst/>
              <a:rect r="r" b="b" t="t" l="l"/>
              <a:pathLst>
                <a:path h="25400" w="6776974">
                  <a:moveTo>
                    <a:pt x="0" y="0"/>
                  </a:moveTo>
                  <a:lnTo>
                    <a:pt x="6776974" y="0"/>
                  </a:lnTo>
                  <a:lnTo>
                    <a:pt x="6776974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235482" y="5675690"/>
            <a:ext cx="3681517" cy="311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01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Temporal Feature Learning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235482" y="6074121"/>
            <a:ext cx="5082750" cy="260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6"/>
              </a:lnSpc>
            </a:pPr>
            <a:r>
              <a:rPr lang="en-US" sz="162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Analyze motion and consistency across frames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235482" y="6594519"/>
            <a:ext cx="368779" cy="230419"/>
            <a:chOff x="0" y="0"/>
            <a:chExt cx="491706" cy="30722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1702" cy="307222"/>
            </a:xfrm>
            <a:custGeom>
              <a:avLst/>
              <a:gdLst/>
              <a:ahLst/>
              <a:cxnLst/>
              <a:rect r="r" b="b" t="t" l="l"/>
              <a:pathLst>
                <a:path h="307222" w="491702">
                  <a:moveTo>
                    <a:pt x="0" y="0"/>
                  </a:moveTo>
                  <a:lnTo>
                    <a:pt x="491702" y="0"/>
                  </a:lnTo>
                  <a:lnTo>
                    <a:pt x="491702" y="307222"/>
                  </a:lnTo>
                  <a:lnTo>
                    <a:pt x="0" y="3072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66" t="0" r="-30167" b="-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491706" cy="3072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4A4A45"/>
                  </a:solidFill>
                  <a:latin typeface="Lato Light"/>
                  <a:ea typeface="Lato Light"/>
                  <a:cs typeface="Lato Light"/>
                  <a:sym typeface="Lato Light"/>
                </a:rPr>
                <a:t>04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235482" y="6888680"/>
            <a:ext cx="5082750" cy="19069"/>
            <a:chOff x="0" y="0"/>
            <a:chExt cx="6776999" cy="2542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776974" cy="25400"/>
            </a:xfrm>
            <a:custGeom>
              <a:avLst/>
              <a:gdLst/>
              <a:ahLst/>
              <a:cxnLst/>
              <a:rect r="r" b="b" t="t" l="l"/>
              <a:pathLst>
                <a:path h="25400" w="6776974">
                  <a:moveTo>
                    <a:pt x="0" y="0"/>
                  </a:moveTo>
                  <a:lnTo>
                    <a:pt x="6776974" y="0"/>
                  </a:lnTo>
                  <a:lnTo>
                    <a:pt x="6776974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2235482" y="7009486"/>
            <a:ext cx="3438167" cy="311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01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Deep Video Embeddings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235482" y="7407916"/>
            <a:ext cx="5082750" cy="260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6"/>
              </a:lnSpc>
            </a:pPr>
            <a:r>
              <a:rPr lang="en-US" sz="162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Encode temporal patterns into feature vectors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2235482" y="7928315"/>
            <a:ext cx="368779" cy="230419"/>
            <a:chOff x="0" y="0"/>
            <a:chExt cx="491706" cy="30722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91702" cy="307222"/>
            </a:xfrm>
            <a:custGeom>
              <a:avLst/>
              <a:gdLst/>
              <a:ahLst/>
              <a:cxnLst/>
              <a:rect r="r" b="b" t="t" l="l"/>
              <a:pathLst>
                <a:path h="307222" w="491702">
                  <a:moveTo>
                    <a:pt x="0" y="0"/>
                  </a:moveTo>
                  <a:lnTo>
                    <a:pt x="491702" y="0"/>
                  </a:lnTo>
                  <a:lnTo>
                    <a:pt x="491702" y="307222"/>
                  </a:lnTo>
                  <a:lnTo>
                    <a:pt x="0" y="3072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66" t="0" r="-30167" b="-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491706" cy="3072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4A4A45"/>
                  </a:solidFill>
                  <a:latin typeface="Lato Light"/>
                  <a:ea typeface="Lato Light"/>
                  <a:cs typeface="Lato Light"/>
                  <a:sym typeface="Lato Light"/>
                </a:rPr>
                <a:t>05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235482" y="8222485"/>
            <a:ext cx="5082750" cy="19069"/>
            <a:chOff x="0" y="0"/>
            <a:chExt cx="6776999" cy="2542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776974" cy="25400"/>
            </a:xfrm>
            <a:custGeom>
              <a:avLst/>
              <a:gdLst/>
              <a:ahLst/>
              <a:cxnLst/>
              <a:rect r="r" b="b" t="t" l="l"/>
              <a:pathLst>
                <a:path h="25400" w="6776974">
                  <a:moveTo>
                    <a:pt x="0" y="0"/>
                  </a:moveTo>
                  <a:lnTo>
                    <a:pt x="6776974" y="0"/>
                  </a:lnTo>
                  <a:lnTo>
                    <a:pt x="6776974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2235482" y="8343281"/>
            <a:ext cx="2541375" cy="311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01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Classification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235482" y="8741712"/>
            <a:ext cx="5082750" cy="260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6"/>
              </a:lnSpc>
            </a:pPr>
            <a:r>
              <a:rPr lang="en-US" sz="162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Real/Fake prediction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7494" y="764848"/>
            <a:ext cx="8701564" cy="84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3"/>
              </a:lnSpc>
            </a:pPr>
            <a:r>
              <a:rPr lang="en-US" sz="5179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Video Model Performance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7494" y="1702737"/>
            <a:ext cx="4231853" cy="42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Performance Metrics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7494" y="2718559"/>
            <a:ext cx="6221997" cy="691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2"/>
              </a:lnSpc>
            </a:pPr>
            <a:r>
              <a:rPr lang="en-US" sz="4128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Accuracy: 93.02%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7494" y="3591849"/>
            <a:ext cx="7575280" cy="477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02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Strong overall performance on video deepfake detection.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7494" y="4307929"/>
            <a:ext cx="4231853" cy="42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Observations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7494" y="4913433"/>
            <a:ext cx="6660185" cy="188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48" indent="-183524" lvl="1">
              <a:lnSpc>
                <a:spcPts val="3137"/>
              </a:lnSpc>
              <a:buFont typeface="Arial"/>
              <a:buChar char="•"/>
            </a:pPr>
            <a:r>
              <a:rPr lang="en-US" sz="202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Strong temporal artifact detection across video samples</a:t>
            </a:r>
          </a:p>
          <a:p>
            <a:pPr algn="l" marL="367048" indent="-183524" lvl="1">
              <a:lnSpc>
                <a:spcPts val="3137"/>
              </a:lnSpc>
              <a:buFont typeface="Arial"/>
              <a:buChar char="•"/>
            </a:pPr>
            <a:r>
              <a:rPr lang="en-US" sz="202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Outperforms the image-only model by 6-7%</a:t>
            </a:r>
          </a:p>
          <a:p>
            <a:pPr algn="l" marL="367048" indent="-183524" lvl="1">
              <a:lnSpc>
                <a:spcPts val="3137"/>
              </a:lnSpc>
              <a:buFont typeface="Arial"/>
              <a:buChar char="•"/>
            </a:pPr>
            <a:r>
              <a:rPr lang="en-US" sz="202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Effective against advanced video deepfake techniques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294513" y="2778109"/>
            <a:ext cx="8587330" cy="6453769"/>
            <a:chOff x="0" y="0"/>
            <a:chExt cx="11449774" cy="8605025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1449812" cy="8605012"/>
            </a:xfrm>
            <a:custGeom>
              <a:avLst/>
              <a:gdLst/>
              <a:ahLst/>
              <a:cxnLst/>
              <a:rect r="r" b="b" t="t" l="l"/>
              <a:pathLst>
                <a:path h="8605012" w="11449812">
                  <a:moveTo>
                    <a:pt x="0" y="0"/>
                  </a:moveTo>
                  <a:lnTo>
                    <a:pt x="11449812" y="0"/>
                  </a:lnTo>
                  <a:lnTo>
                    <a:pt x="11449812" y="8605012"/>
                  </a:lnTo>
                  <a:lnTo>
                    <a:pt x="0" y="8605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" t="0" r="-1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861070"/>
            <a:ext cx="9920945" cy="78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1"/>
              </a:lnSpc>
            </a:pPr>
            <a:r>
              <a:rPr lang="en-US" sz="4728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Audio-Based Deepfake Detection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53018" y="2951268"/>
            <a:ext cx="10305037" cy="5625477"/>
            <a:chOff x="0" y="0"/>
            <a:chExt cx="11785778" cy="643380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1785727" cy="6433820"/>
            </a:xfrm>
            <a:custGeom>
              <a:avLst/>
              <a:gdLst/>
              <a:ahLst/>
              <a:cxnLst/>
              <a:rect r="r" b="b" t="t" l="l"/>
              <a:pathLst>
                <a:path h="6433820" w="11785727">
                  <a:moveTo>
                    <a:pt x="0" y="0"/>
                  </a:moveTo>
                  <a:lnTo>
                    <a:pt x="11785727" y="0"/>
                  </a:lnTo>
                  <a:lnTo>
                    <a:pt x="11785727" y="6433820"/>
                  </a:lnTo>
                  <a:lnTo>
                    <a:pt x="0" y="6433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" t="0" r="-4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990175" y="2127094"/>
            <a:ext cx="3929805" cy="40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Detection Pipeline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12080586" y="2770442"/>
            <a:ext cx="361779" cy="361788"/>
          </a:xfrm>
          <a:custGeom>
            <a:avLst/>
            <a:gdLst/>
            <a:ahLst/>
            <a:cxnLst/>
            <a:rect r="r" b="b" t="t" l="l"/>
            <a:pathLst>
              <a:path h="361788" w="361779">
                <a:moveTo>
                  <a:pt x="0" y="0"/>
                </a:moveTo>
                <a:lnTo>
                  <a:pt x="361779" y="0"/>
                </a:lnTo>
                <a:lnTo>
                  <a:pt x="361779" y="361788"/>
                </a:lnTo>
                <a:lnTo>
                  <a:pt x="0" y="3617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212" t="0" r="-9212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773901" y="2734494"/>
            <a:ext cx="3014710" cy="40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Preprocessing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73901" y="3287697"/>
            <a:ext cx="4544330" cy="77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Resampling → Noise reduction → Normalization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2080586" y="4475855"/>
            <a:ext cx="361779" cy="361788"/>
          </a:xfrm>
          <a:custGeom>
            <a:avLst/>
            <a:gdLst/>
            <a:ahLst/>
            <a:cxnLst/>
            <a:rect r="r" b="b" t="t" l="l"/>
            <a:pathLst>
              <a:path h="361788" w="361779">
                <a:moveTo>
                  <a:pt x="0" y="0"/>
                </a:moveTo>
                <a:lnTo>
                  <a:pt x="361779" y="0"/>
                </a:lnTo>
                <a:lnTo>
                  <a:pt x="361779" y="361788"/>
                </a:lnTo>
                <a:lnTo>
                  <a:pt x="0" y="3617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212" t="0" r="-9212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773901" y="4439907"/>
            <a:ext cx="3014710" cy="40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Log-Mel Spectrogram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73901" y="4993110"/>
            <a:ext cx="4544330" cy="77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Generate time-frequency representation of audio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12080586" y="6181268"/>
            <a:ext cx="361779" cy="361788"/>
          </a:xfrm>
          <a:custGeom>
            <a:avLst/>
            <a:gdLst/>
            <a:ahLst/>
            <a:cxnLst/>
            <a:rect r="r" b="b" t="t" l="l"/>
            <a:pathLst>
              <a:path h="361788" w="361779">
                <a:moveTo>
                  <a:pt x="0" y="0"/>
                </a:moveTo>
                <a:lnTo>
                  <a:pt x="361779" y="0"/>
                </a:lnTo>
                <a:lnTo>
                  <a:pt x="361779" y="361788"/>
                </a:lnTo>
                <a:lnTo>
                  <a:pt x="0" y="3617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212" t="0" r="-9212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773901" y="6145320"/>
            <a:ext cx="3056563" cy="40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Deep Feature Learning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73901" y="6698523"/>
            <a:ext cx="4544330" cy="77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MFCC features, spectrogram patterns, acoustic signatures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12080586" y="7886681"/>
            <a:ext cx="361779" cy="361788"/>
          </a:xfrm>
          <a:custGeom>
            <a:avLst/>
            <a:gdLst/>
            <a:ahLst/>
            <a:cxnLst/>
            <a:rect r="r" b="b" t="t" l="l"/>
            <a:pathLst>
              <a:path h="361788" w="361779">
                <a:moveTo>
                  <a:pt x="0" y="0"/>
                </a:moveTo>
                <a:lnTo>
                  <a:pt x="361779" y="0"/>
                </a:lnTo>
                <a:lnTo>
                  <a:pt x="361779" y="361788"/>
                </a:lnTo>
                <a:lnTo>
                  <a:pt x="0" y="3617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212" t="0" r="-9212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773901" y="7850734"/>
            <a:ext cx="3014710" cy="40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Classification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73901" y="8403936"/>
            <a:ext cx="4544330" cy="77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TensorFlow/Keras classifier → Real/Fake prediction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5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7494" y="771401"/>
            <a:ext cx="8724052" cy="84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3"/>
              </a:lnSpc>
            </a:pPr>
            <a:r>
              <a:rPr lang="en-US" sz="5179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Audio Model Performance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7494" y="1709290"/>
            <a:ext cx="4231853" cy="42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Performance Metrics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7494" y="2725112"/>
            <a:ext cx="6221997" cy="691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2"/>
              </a:lnSpc>
            </a:pPr>
            <a:r>
              <a:rPr lang="en-US" sz="4128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Accuracy: 87.59%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7494" y="3598402"/>
            <a:ext cx="7575280" cy="477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02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Strong overall performance on audio deepfake detection.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7494" y="4314482"/>
            <a:ext cx="4231853" cy="42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Findings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7494" y="4919986"/>
            <a:ext cx="6660185" cy="1472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48" indent="-183524" lvl="1">
              <a:lnSpc>
                <a:spcPts val="3137"/>
              </a:lnSpc>
              <a:buFont typeface="Arial"/>
              <a:buChar char="•"/>
            </a:pPr>
            <a:r>
              <a:rPr lang="en-US" sz="202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Effective spoof speech detection on test data</a:t>
            </a:r>
          </a:p>
          <a:p>
            <a:pPr algn="l" marL="367048" indent="-183524" lvl="1">
              <a:lnSpc>
                <a:spcPts val="3137"/>
              </a:lnSpc>
              <a:buFont typeface="Arial"/>
              <a:buChar char="•"/>
            </a:pPr>
            <a:r>
              <a:rPr lang="en-US" sz="202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Spectrograms capture subtle voice synthesis artifacts</a:t>
            </a:r>
          </a:p>
          <a:p>
            <a:pPr algn="l" marL="367048" indent="-183524" lvl="1">
              <a:lnSpc>
                <a:spcPts val="3137"/>
              </a:lnSpc>
              <a:buFont typeface="Arial"/>
              <a:buChar char="•"/>
            </a:pPr>
            <a:r>
              <a:rPr lang="en-US" sz="202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Good generalization on unseen audio samples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294513" y="2784662"/>
            <a:ext cx="8587330" cy="6440653"/>
            <a:chOff x="0" y="0"/>
            <a:chExt cx="11449774" cy="8587537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1449812" cy="8587486"/>
            </a:xfrm>
            <a:custGeom>
              <a:avLst/>
              <a:gdLst/>
              <a:ahLst/>
              <a:cxnLst/>
              <a:rect r="r" b="b" t="t" l="l"/>
              <a:pathLst>
                <a:path h="8587486" w="11449812">
                  <a:moveTo>
                    <a:pt x="0" y="0"/>
                  </a:moveTo>
                  <a:lnTo>
                    <a:pt x="11449812" y="0"/>
                  </a:lnTo>
                  <a:lnTo>
                    <a:pt x="11449812" y="8587486"/>
                  </a:lnTo>
                  <a:lnTo>
                    <a:pt x="0" y="8587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" r="0" b="-17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094775"/>
            <a:ext cx="9006002" cy="924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Multimodal Fusion Model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2709758"/>
            <a:ext cx="4461815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Classifier Used: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991" y="3370088"/>
            <a:ext cx="8046530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Fully Connected Neural Network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4174484"/>
            <a:ext cx="4461815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Benefits: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4834804"/>
            <a:ext cx="7131434" cy="2454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Utilizes visual, temporal, and acoustic information simultaneously for comprehensive analysis.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More robust against sophisticated deepfake generation techniques by identifying subtle inconsistencies across modalities.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7459208"/>
            <a:ext cx="7131434" cy="144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This fusion architecture combines features from different modalities to make a robust deepfake prediction, leveraging the strengths of each data type.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389560" y="2728808"/>
            <a:ext cx="8869740" cy="5913210"/>
            <a:chOff x="0" y="0"/>
            <a:chExt cx="11322672" cy="754851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1322685" cy="7548499"/>
            </a:xfrm>
            <a:custGeom>
              <a:avLst/>
              <a:gdLst/>
              <a:ahLst/>
              <a:cxnLst/>
              <a:rect r="r" b="b" t="t" l="l"/>
              <a:pathLst>
                <a:path h="7548499" w="11322685">
                  <a:moveTo>
                    <a:pt x="0" y="0"/>
                  </a:moveTo>
                  <a:lnTo>
                    <a:pt x="11322685" y="0"/>
                  </a:lnTo>
                  <a:lnTo>
                    <a:pt x="11322685" y="7548499"/>
                  </a:lnTo>
                  <a:lnTo>
                    <a:pt x="0" y="7548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910666"/>
            <a:ext cx="10036369" cy="826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2"/>
              </a:lnSpc>
            </a:pPr>
            <a:r>
              <a:rPr lang="en-US" sz="4953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Multimodal Model Performance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1819666"/>
            <a:ext cx="4107190" cy="408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Performance Metrics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991" y="2783491"/>
            <a:ext cx="6022572" cy="65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4"/>
              </a:lnSpc>
            </a:pPr>
            <a:r>
              <a:rPr lang="en-US" sz="3978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Accuracy: 83%    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4279182"/>
            <a:ext cx="4107190" cy="408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Key Observation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4860255"/>
            <a:ext cx="7168820" cy="1834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3453" indent="-176727" lvl="1">
              <a:lnSpc>
                <a:spcPts val="2974"/>
              </a:lnSpc>
              <a:buFont typeface="Arial"/>
              <a:buChar char="•"/>
            </a:pPr>
            <a:r>
              <a:rPr lang="en-US" sz="195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Multimodal fusion provides more comprehensive analysis and robustness.</a:t>
            </a:r>
          </a:p>
          <a:p>
            <a:pPr algn="l" marL="353453" indent="-176727" lvl="1">
              <a:lnSpc>
                <a:spcPts val="2974"/>
              </a:lnSpc>
              <a:buFont typeface="Arial"/>
              <a:buChar char="•"/>
            </a:pPr>
            <a:r>
              <a:rPr lang="en-US" sz="195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Combines strengths of all modalities (image, video, audio) for comprehensive analysis.</a:t>
            </a:r>
          </a:p>
          <a:p>
            <a:pPr algn="l" marL="353453" indent="-176727" lvl="1">
              <a:lnSpc>
                <a:spcPts val="2974"/>
              </a:lnSpc>
              <a:buFont typeface="Arial"/>
              <a:buChar char="•"/>
            </a:pPr>
            <a:r>
              <a:rPr lang="en-US" sz="195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Robust against complex deepfake generation techniques.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794204" y="2831287"/>
            <a:ext cx="7671492" cy="6265945"/>
            <a:chOff x="0" y="0"/>
            <a:chExt cx="10228656" cy="8354593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0228707" cy="8354568"/>
            </a:xfrm>
            <a:custGeom>
              <a:avLst/>
              <a:gdLst/>
              <a:ahLst/>
              <a:cxnLst/>
              <a:rect r="r" b="b" t="t" l="l"/>
              <a:pathLst>
                <a:path h="8354568" w="10228707">
                  <a:moveTo>
                    <a:pt x="0" y="0"/>
                  </a:moveTo>
                  <a:lnTo>
                    <a:pt x="10228707" y="0"/>
                  </a:lnTo>
                  <a:lnTo>
                    <a:pt x="10228707" y="8354568"/>
                  </a:lnTo>
                  <a:lnTo>
                    <a:pt x="0" y="8354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8" t="0" r="-38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9903" y="678466"/>
            <a:ext cx="8203959" cy="550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7"/>
              </a:lnSpc>
            </a:pPr>
            <a:r>
              <a:rPr lang="en-US" sz="3227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User Interface and System Deployment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594991" y="1487662"/>
            <a:ext cx="4656934" cy="3878961"/>
            <a:chOff x="0" y="0"/>
            <a:chExt cx="6209246" cy="517194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6209284" cy="5171948"/>
            </a:xfrm>
            <a:custGeom>
              <a:avLst/>
              <a:gdLst/>
              <a:ahLst/>
              <a:cxnLst/>
              <a:rect r="r" b="b" t="t" l="l"/>
              <a:pathLst>
                <a:path h="5171948" w="6209284">
                  <a:moveTo>
                    <a:pt x="0" y="0"/>
                  </a:moveTo>
                  <a:lnTo>
                    <a:pt x="6209284" y="0"/>
                  </a:lnTo>
                  <a:lnTo>
                    <a:pt x="6209284" y="5171948"/>
                  </a:lnTo>
                  <a:lnTo>
                    <a:pt x="0" y="5171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8" t="0" r="-37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599611" y="5477285"/>
            <a:ext cx="4647695" cy="3862426"/>
            <a:chOff x="0" y="0"/>
            <a:chExt cx="6196927" cy="5149901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6196965" cy="5149850"/>
            </a:xfrm>
            <a:custGeom>
              <a:avLst/>
              <a:gdLst/>
              <a:ahLst/>
              <a:cxnLst/>
              <a:rect r="r" b="b" t="t" l="l"/>
              <a:pathLst>
                <a:path h="5149850" w="6196965">
                  <a:moveTo>
                    <a:pt x="0" y="0"/>
                  </a:moveTo>
                  <a:lnTo>
                    <a:pt x="6196965" y="0"/>
                  </a:lnTo>
                  <a:lnTo>
                    <a:pt x="6196965" y="5149850"/>
                  </a:lnTo>
                  <a:lnTo>
                    <a:pt x="0" y="5149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7" t="0" r="-67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364351" y="1446419"/>
            <a:ext cx="8047120" cy="114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9"/>
              </a:lnSpc>
            </a:pPr>
            <a:r>
              <a:rPr lang="en-US" sz="177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The system aims to provide a simple and interactive platform for real-time deepfake detection across image, video, and audio modalities.</a:t>
            </a:r>
          </a:p>
          <a:p>
            <a:pPr algn="l">
              <a:lnSpc>
                <a:spcPts val="2259"/>
              </a:lnSpc>
            </a:pPr>
          </a:p>
          <a:p>
            <a:pPr algn="l">
              <a:lnSpc>
                <a:spcPts val="2259"/>
              </a:lnSpc>
            </a:pPr>
            <a:r>
              <a:rPr lang="en-US" sz="1776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Frontend Features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64351" y="2635509"/>
            <a:ext cx="8047120" cy="995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438" indent="-142719" lvl="1">
              <a:lnSpc>
                <a:spcPts val="2004"/>
              </a:lnSpc>
              <a:buFont typeface="Arial"/>
              <a:buChar char="•"/>
            </a:pPr>
            <a:r>
              <a:rPr lang="en-US" sz="15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User-friendly web interface</a:t>
            </a:r>
          </a:p>
          <a:p>
            <a:pPr algn="l" marL="285438" indent="-142719" lvl="1">
              <a:lnSpc>
                <a:spcPts val="2004"/>
              </a:lnSpc>
              <a:buFont typeface="Arial"/>
              <a:buChar char="•"/>
            </a:pPr>
            <a:r>
              <a:rPr lang="en-US" sz="15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Support for Image, Video and Audio uploads</a:t>
            </a:r>
          </a:p>
          <a:p>
            <a:pPr algn="l" marL="285438" indent="-142719" lvl="1">
              <a:lnSpc>
                <a:spcPts val="2004"/>
              </a:lnSpc>
              <a:buFont typeface="Arial"/>
              <a:buChar char="•"/>
            </a:pPr>
            <a:r>
              <a:rPr lang="en-US" sz="15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Real-time prediction workflow</a:t>
            </a:r>
          </a:p>
          <a:p>
            <a:pPr algn="l" marL="285438" indent="-142719" lvl="1">
              <a:lnSpc>
                <a:spcPts val="2004"/>
              </a:lnSpc>
              <a:buFont typeface="Arial"/>
              <a:buChar char="•"/>
            </a:pPr>
            <a:r>
              <a:rPr lang="en-US" sz="15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Responsive and easy-to-use design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64351" y="3747235"/>
            <a:ext cx="8937488" cy="288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9"/>
              </a:lnSpc>
            </a:pPr>
            <a:r>
              <a:rPr lang="en-US" sz="1776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Backend Processing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64351" y="4152280"/>
            <a:ext cx="8047120" cy="995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438" indent="-142719" lvl="1">
              <a:lnSpc>
                <a:spcPts val="2004"/>
              </a:lnSpc>
              <a:buFont typeface="Arial"/>
              <a:buChar char="•"/>
            </a:pPr>
            <a:r>
              <a:rPr lang="en-US" sz="15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Automatic preprocessing of uploaded media</a:t>
            </a:r>
          </a:p>
          <a:p>
            <a:pPr algn="l" marL="285438" indent="-142719" lvl="1">
              <a:lnSpc>
                <a:spcPts val="2004"/>
              </a:lnSpc>
              <a:buFont typeface="Arial"/>
              <a:buChar char="•"/>
            </a:pPr>
            <a:r>
              <a:rPr lang="en-US" sz="15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Execution of modality-specific detection models</a:t>
            </a:r>
          </a:p>
          <a:p>
            <a:pPr algn="l" marL="285438" indent="-142719" lvl="1">
              <a:lnSpc>
                <a:spcPts val="2004"/>
              </a:lnSpc>
              <a:buFont typeface="Arial"/>
              <a:buChar char="•"/>
            </a:pPr>
            <a:r>
              <a:rPr lang="en-US" sz="15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Feature extraction and classification</a:t>
            </a:r>
          </a:p>
          <a:p>
            <a:pPr algn="l" marL="285438" indent="-142719" lvl="1">
              <a:lnSpc>
                <a:spcPts val="2004"/>
              </a:lnSpc>
              <a:buFont typeface="Arial"/>
              <a:buChar char="•"/>
            </a:pPr>
            <a:r>
              <a:rPr lang="en-US" sz="15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Prediction generation with confidence score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64351" y="5282032"/>
            <a:ext cx="8047120" cy="1431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9"/>
              </a:lnSpc>
            </a:pPr>
            <a:r>
              <a:rPr lang="en-US" sz="1776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Deployment Architecture</a:t>
            </a:r>
          </a:p>
          <a:p>
            <a:pPr algn="l">
              <a:lnSpc>
                <a:spcPts val="2259"/>
              </a:lnSpc>
            </a:pPr>
            <a:r>
              <a:rPr lang="en-US" sz="177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User Upload </a:t>
            </a:r>
            <a:r>
              <a:rPr lang="en-US" sz="1776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→</a:t>
            </a:r>
            <a:r>
              <a:rPr lang="en-US" sz="177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Preprocessing </a:t>
            </a:r>
            <a:r>
              <a:rPr lang="en-US" sz="1776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→</a:t>
            </a:r>
            <a:r>
              <a:rPr lang="en-US" sz="177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Detection Model </a:t>
            </a:r>
            <a:r>
              <a:rPr lang="en-US" sz="1776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→</a:t>
            </a:r>
            <a:r>
              <a:rPr lang="en-US" sz="177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Classification Engine </a:t>
            </a:r>
            <a:r>
              <a:rPr lang="en-US" sz="1776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→</a:t>
            </a:r>
            <a:r>
              <a:rPr lang="en-US" sz="177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Prediction Output</a:t>
            </a:r>
          </a:p>
          <a:p>
            <a:pPr algn="l">
              <a:lnSpc>
                <a:spcPts val="2259"/>
              </a:lnSpc>
            </a:pPr>
          </a:p>
          <a:p>
            <a:pPr algn="l">
              <a:lnSpc>
                <a:spcPts val="2259"/>
              </a:lnSpc>
            </a:pPr>
            <a:r>
              <a:rPr lang="en-US" sz="1776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Key Advantages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64351" y="6761215"/>
            <a:ext cx="8047120" cy="995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438" indent="-142719" lvl="1">
              <a:lnSpc>
                <a:spcPts val="2004"/>
              </a:lnSpc>
              <a:buFont typeface="Arial"/>
              <a:buChar char="•"/>
            </a:pPr>
            <a:r>
              <a:rPr lang="en-US" sz="15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Easy accessibility</a:t>
            </a:r>
          </a:p>
          <a:p>
            <a:pPr algn="l" marL="285438" indent="-142719" lvl="1">
              <a:lnSpc>
                <a:spcPts val="2004"/>
              </a:lnSpc>
              <a:buFont typeface="Arial"/>
              <a:buChar char="•"/>
            </a:pPr>
            <a:r>
              <a:rPr lang="en-US" sz="15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Fast prediction generation</a:t>
            </a:r>
          </a:p>
          <a:p>
            <a:pPr algn="l" marL="285438" indent="-142719" lvl="1">
              <a:lnSpc>
                <a:spcPts val="2004"/>
              </a:lnSpc>
              <a:buFont typeface="Arial"/>
              <a:buChar char="•"/>
            </a:pPr>
            <a:r>
              <a:rPr lang="en-US" sz="15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Scalable deployment architecture</a:t>
            </a:r>
          </a:p>
          <a:p>
            <a:pPr algn="l" marL="285438" indent="-142719" lvl="1">
              <a:lnSpc>
                <a:spcPts val="2004"/>
              </a:lnSpc>
              <a:buFont typeface="Arial"/>
              <a:buChar char="•"/>
            </a:pPr>
            <a:r>
              <a:rPr lang="en-US" sz="15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Supports multiple media formats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21443"/>
            <a:ext cx="5645153" cy="59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6"/>
              </a:lnSpc>
            </a:pPr>
            <a:r>
              <a:rPr lang="en-US" sz="3602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System Demonstration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1467887"/>
            <a:ext cx="4452999" cy="5239752"/>
            <a:chOff x="0" y="0"/>
            <a:chExt cx="4452925" cy="5239664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4452874" cy="5239639"/>
            </a:xfrm>
            <a:custGeom>
              <a:avLst/>
              <a:gdLst/>
              <a:ahLst/>
              <a:cxnLst/>
              <a:rect r="r" b="b" t="t" l="l"/>
              <a:pathLst>
                <a:path h="5239639" w="4452874">
                  <a:moveTo>
                    <a:pt x="0" y="0"/>
                  </a:moveTo>
                  <a:lnTo>
                    <a:pt x="4452874" y="0"/>
                  </a:lnTo>
                  <a:lnTo>
                    <a:pt x="4452874" y="5239639"/>
                  </a:lnTo>
                  <a:lnTo>
                    <a:pt x="0" y="5239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9" r="-1" b="-2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776551" y="1467887"/>
            <a:ext cx="5051593" cy="5239752"/>
            <a:chOff x="0" y="0"/>
            <a:chExt cx="4449559" cy="4615294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4449572" cy="4615307"/>
            </a:xfrm>
            <a:custGeom>
              <a:avLst/>
              <a:gdLst/>
              <a:ahLst/>
              <a:cxnLst/>
              <a:rect r="r" b="b" t="t" l="l"/>
              <a:pathLst>
                <a:path h="4615307" w="4449572">
                  <a:moveTo>
                    <a:pt x="0" y="0"/>
                  </a:moveTo>
                  <a:lnTo>
                    <a:pt x="4449572" y="0"/>
                  </a:lnTo>
                  <a:lnTo>
                    <a:pt x="4449572" y="4615307"/>
                  </a:lnTo>
                  <a:lnTo>
                    <a:pt x="0" y="46153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" t="0" r="-4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161519" y="1467887"/>
            <a:ext cx="5233081" cy="5239752"/>
            <a:chOff x="0" y="0"/>
            <a:chExt cx="4452925" cy="4458602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4452874" cy="4458589"/>
            </a:xfrm>
            <a:custGeom>
              <a:avLst/>
              <a:gdLst/>
              <a:ahLst/>
              <a:cxnLst/>
              <a:rect r="r" b="b" t="t" l="l"/>
              <a:pathLst>
                <a:path h="4458589" w="4452874">
                  <a:moveTo>
                    <a:pt x="0" y="0"/>
                  </a:moveTo>
                  <a:lnTo>
                    <a:pt x="4452874" y="0"/>
                  </a:lnTo>
                  <a:lnTo>
                    <a:pt x="4452874" y="4458589"/>
                  </a:lnTo>
                  <a:lnTo>
                    <a:pt x="0" y="4458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79" r="-1" b="-7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288233" y="6860039"/>
            <a:ext cx="6028230" cy="3335017"/>
            <a:chOff x="0" y="0"/>
            <a:chExt cx="8037640" cy="4446689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8037576" cy="4446651"/>
            </a:xfrm>
            <a:custGeom>
              <a:avLst/>
              <a:gdLst/>
              <a:ahLst/>
              <a:cxnLst/>
              <a:rect r="r" b="b" t="t" l="l"/>
              <a:pathLst>
                <a:path h="4446651" w="8037576">
                  <a:moveTo>
                    <a:pt x="0" y="0"/>
                  </a:moveTo>
                  <a:lnTo>
                    <a:pt x="8037576" y="0"/>
                  </a:lnTo>
                  <a:lnTo>
                    <a:pt x="8037576" y="4446651"/>
                  </a:lnTo>
                  <a:lnTo>
                    <a:pt x="0" y="4446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51" r="0" b="-51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551280"/>
            <a:ext cx="8962063" cy="87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7"/>
              </a:lnSpc>
            </a:pPr>
            <a:r>
              <a:rPr lang="en-US" sz="5254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Conclusion &amp; Future Scope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3043399"/>
            <a:ext cx="4958391" cy="52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4"/>
              </a:lnSpc>
            </a:pPr>
            <a:r>
              <a:rPr lang="en-US" sz="3152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Key Accomplishments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991" y="4004072"/>
            <a:ext cx="134645" cy="134645"/>
            <a:chOff x="0" y="0"/>
            <a:chExt cx="179527" cy="1795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9578" cy="179578"/>
            </a:xfrm>
            <a:custGeom>
              <a:avLst/>
              <a:gdLst/>
              <a:ahLst/>
              <a:cxnLst/>
              <a:rect r="r" b="b" t="t" l="l"/>
              <a:pathLst>
                <a:path h="179578" w="179578">
                  <a:moveTo>
                    <a:pt x="0" y="89789"/>
                  </a:moveTo>
                  <a:cubicBezTo>
                    <a:pt x="0" y="40132"/>
                    <a:pt x="40132" y="0"/>
                    <a:pt x="89789" y="0"/>
                  </a:cubicBezTo>
                  <a:cubicBezTo>
                    <a:pt x="139446" y="0"/>
                    <a:pt x="179578" y="40132"/>
                    <a:pt x="179578" y="89789"/>
                  </a:cubicBezTo>
                  <a:cubicBezTo>
                    <a:pt x="179578" y="139319"/>
                    <a:pt x="139446" y="179578"/>
                    <a:pt x="89789" y="179578"/>
                  </a:cubicBezTo>
                  <a:cubicBezTo>
                    <a:pt x="40132" y="179578"/>
                    <a:pt x="0" y="139319"/>
                    <a:pt x="0" y="89789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83659" y="3779672"/>
            <a:ext cx="7098811" cy="917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Developed independent image, video, and audio detection pipelines.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991" y="5357089"/>
            <a:ext cx="134645" cy="134645"/>
            <a:chOff x="0" y="0"/>
            <a:chExt cx="179527" cy="1795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9578" cy="179578"/>
            </a:xfrm>
            <a:custGeom>
              <a:avLst/>
              <a:gdLst/>
              <a:ahLst/>
              <a:cxnLst/>
              <a:rect r="r" b="b" t="t" l="l"/>
              <a:pathLst>
                <a:path h="179578" w="179578">
                  <a:moveTo>
                    <a:pt x="0" y="89789"/>
                  </a:moveTo>
                  <a:cubicBezTo>
                    <a:pt x="0" y="40132"/>
                    <a:pt x="40132" y="0"/>
                    <a:pt x="89789" y="0"/>
                  </a:cubicBezTo>
                  <a:cubicBezTo>
                    <a:pt x="139446" y="0"/>
                    <a:pt x="179578" y="40132"/>
                    <a:pt x="179578" y="89789"/>
                  </a:cubicBezTo>
                  <a:cubicBezTo>
                    <a:pt x="179578" y="139319"/>
                    <a:pt x="139446" y="179578"/>
                    <a:pt x="89789" y="179578"/>
                  </a:cubicBezTo>
                  <a:cubicBezTo>
                    <a:pt x="40132" y="179578"/>
                    <a:pt x="0" y="139319"/>
                    <a:pt x="0" y="89789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83659" y="5132689"/>
            <a:ext cx="7098811" cy="496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Successfully implemented feature-level fusion techniques.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92991" y="6289624"/>
            <a:ext cx="134645" cy="134645"/>
            <a:chOff x="0" y="0"/>
            <a:chExt cx="179527" cy="1795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9578" cy="179578"/>
            </a:xfrm>
            <a:custGeom>
              <a:avLst/>
              <a:gdLst/>
              <a:ahLst/>
              <a:cxnLst/>
              <a:rect r="r" b="b" t="t" l="l"/>
              <a:pathLst>
                <a:path h="179578" w="179578">
                  <a:moveTo>
                    <a:pt x="0" y="89789"/>
                  </a:moveTo>
                  <a:cubicBezTo>
                    <a:pt x="0" y="40132"/>
                    <a:pt x="40132" y="0"/>
                    <a:pt x="89789" y="0"/>
                  </a:cubicBezTo>
                  <a:cubicBezTo>
                    <a:pt x="139446" y="0"/>
                    <a:pt x="179578" y="40132"/>
                    <a:pt x="179578" y="89789"/>
                  </a:cubicBezTo>
                  <a:cubicBezTo>
                    <a:pt x="179578" y="139319"/>
                    <a:pt x="139446" y="179578"/>
                    <a:pt x="89789" y="179578"/>
                  </a:cubicBezTo>
                  <a:cubicBezTo>
                    <a:pt x="40132" y="179578"/>
                    <a:pt x="0" y="139319"/>
                    <a:pt x="0" y="89789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383659" y="6065225"/>
            <a:ext cx="7098811" cy="917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Multimodal approach significantly outperformed individual models.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92991" y="7642641"/>
            <a:ext cx="134645" cy="134645"/>
            <a:chOff x="0" y="0"/>
            <a:chExt cx="179527" cy="1795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9578" cy="179578"/>
            </a:xfrm>
            <a:custGeom>
              <a:avLst/>
              <a:gdLst/>
              <a:ahLst/>
              <a:cxnLst/>
              <a:rect r="r" b="b" t="t" l="l"/>
              <a:pathLst>
                <a:path h="179578" w="179578">
                  <a:moveTo>
                    <a:pt x="0" y="89789"/>
                  </a:moveTo>
                  <a:cubicBezTo>
                    <a:pt x="0" y="40132"/>
                    <a:pt x="40132" y="0"/>
                    <a:pt x="89789" y="0"/>
                  </a:cubicBezTo>
                  <a:cubicBezTo>
                    <a:pt x="139446" y="0"/>
                    <a:pt x="179578" y="40132"/>
                    <a:pt x="179578" y="89789"/>
                  </a:cubicBezTo>
                  <a:cubicBezTo>
                    <a:pt x="179578" y="139319"/>
                    <a:pt x="139446" y="179578"/>
                    <a:pt x="89789" y="179578"/>
                  </a:cubicBezTo>
                  <a:cubicBezTo>
                    <a:pt x="40132" y="179578"/>
                    <a:pt x="0" y="139319"/>
                    <a:pt x="0" y="89789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383659" y="7418241"/>
            <a:ext cx="7098811" cy="917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Achieved high reliability in comprehensive deepfake detection.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9725" y="3043399"/>
            <a:ext cx="4958391" cy="52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4"/>
              </a:lnSpc>
            </a:pPr>
            <a:r>
              <a:rPr lang="en-US" sz="3152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Future Roadmap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149725" y="4004072"/>
            <a:ext cx="134645" cy="134645"/>
            <a:chOff x="0" y="0"/>
            <a:chExt cx="179527" cy="17952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9578" cy="179578"/>
            </a:xfrm>
            <a:custGeom>
              <a:avLst/>
              <a:gdLst/>
              <a:ahLst/>
              <a:cxnLst/>
              <a:rect r="r" b="b" t="t" l="l"/>
              <a:pathLst>
                <a:path h="179578" w="179578">
                  <a:moveTo>
                    <a:pt x="0" y="89789"/>
                  </a:moveTo>
                  <a:cubicBezTo>
                    <a:pt x="0" y="40132"/>
                    <a:pt x="40132" y="0"/>
                    <a:pt x="89789" y="0"/>
                  </a:cubicBezTo>
                  <a:cubicBezTo>
                    <a:pt x="139446" y="0"/>
                    <a:pt x="179578" y="40132"/>
                    <a:pt x="179578" y="89789"/>
                  </a:cubicBezTo>
                  <a:cubicBezTo>
                    <a:pt x="179578" y="139319"/>
                    <a:pt x="139446" y="179578"/>
                    <a:pt x="89789" y="179578"/>
                  </a:cubicBezTo>
                  <a:cubicBezTo>
                    <a:pt x="40132" y="179578"/>
                    <a:pt x="0" y="139319"/>
                    <a:pt x="0" y="89789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540402" y="3779672"/>
            <a:ext cx="7777839" cy="496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Real-time live detection for immediate analysis.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149725" y="4936617"/>
            <a:ext cx="134645" cy="134645"/>
            <a:chOff x="0" y="0"/>
            <a:chExt cx="179527" cy="17952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9578" cy="179578"/>
            </a:xfrm>
            <a:custGeom>
              <a:avLst/>
              <a:gdLst/>
              <a:ahLst/>
              <a:cxnLst/>
              <a:rect r="r" b="b" t="t" l="l"/>
              <a:pathLst>
                <a:path h="179578" w="179578">
                  <a:moveTo>
                    <a:pt x="0" y="89789"/>
                  </a:moveTo>
                  <a:cubicBezTo>
                    <a:pt x="0" y="40132"/>
                    <a:pt x="40132" y="0"/>
                    <a:pt x="89789" y="0"/>
                  </a:cubicBezTo>
                  <a:cubicBezTo>
                    <a:pt x="139446" y="0"/>
                    <a:pt x="179578" y="40132"/>
                    <a:pt x="179578" y="89789"/>
                  </a:cubicBezTo>
                  <a:cubicBezTo>
                    <a:pt x="179578" y="139319"/>
                    <a:pt x="139446" y="179578"/>
                    <a:pt x="89789" y="179578"/>
                  </a:cubicBezTo>
                  <a:cubicBezTo>
                    <a:pt x="40132" y="179578"/>
                    <a:pt x="0" y="139319"/>
                    <a:pt x="0" y="89789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540402" y="4712218"/>
            <a:ext cx="7777839" cy="917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Explore Transformer-based multimodal fusion for enhanced accuracy.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149725" y="6289624"/>
            <a:ext cx="134645" cy="134645"/>
            <a:chOff x="0" y="0"/>
            <a:chExt cx="179527" cy="17952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9578" cy="179578"/>
            </a:xfrm>
            <a:custGeom>
              <a:avLst/>
              <a:gdLst/>
              <a:ahLst/>
              <a:cxnLst/>
              <a:rect r="r" b="b" t="t" l="l"/>
              <a:pathLst>
                <a:path h="179578" w="179578">
                  <a:moveTo>
                    <a:pt x="0" y="89789"/>
                  </a:moveTo>
                  <a:cubicBezTo>
                    <a:pt x="0" y="40132"/>
                    <a:pt x="40132" y="0"/>
                    <a:pt x="89789" y="0"/>
                  </a:cubicBezTo>
                  <a:cubicBezTo>
                    <a:pt x="139446" y="0"/>
                    <a:pt x="179578" y="40132"/>
                    <a:pt x="179578" y="89789"/>
                  </a:cubicBezTo>
                  <a:cubicBezTo>
                    <a:pt x="179578" y="139319"/>
                    <a:pt x="139446" y="179578"/>
                    <a:pt x="89789" y="179578"/>
                  </a:cubicBezTo>
                  <a:cubicBezTo>
                    <a:pt x="40132" y="179578"/>
                    <a:pt x="0" y="139319"/>
                    <a:pt x="0" y="89789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540402" y="6065225"/>
            <a:ext cx="7777839" cy="496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Improve cross-dataset generalization for broader applicability.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149725" y="7222169"/>
            <a:ext cx="134645" cy="134645"/>
            <a:chOff x="0" y="0"/>
            <a:chExt cx="179527" cy="17952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9578" cy="179578"/>
            </a:xfrm>
            <a:custGeom>
              <a:avLst/>
              <a:gdLst/>
              <a:ahLst/>
              <a:cxnLst/>
              <a:rect r="r" b="b" t="t" l="l"/>
              <a:pathLst>
                <a:path h="179578" w="179578">
                  <a:moveTo>
                    <a:pt x="0" y="89789"/>
                  </a:moveTo>
                  <a:cubicBezTo>
                    <a:pt x="0" y="40132"/>
                    <a:pt x="40132" y="0"/>
                    <a:pt x="89789" y="0"/>
                  </a:cubicBezTo>
                  <a:cubicBezTo>
                    <a:pt x="139446" y="0"/>
                    <a:pt x="179578" y="40132"/>
                    <a:pt x="179578" y="89789"/>
                  </a:cubicBezTo>
                  <a:cubicBezTo>
                    <a:pt x="179578" y="139319"/>
                    <a:pt x="139446" y="179578"/>
                    <a:pt x="89789" y="179578"/>
                  </a:cubicBezTo>
                  <a:cubicBezTo>
                    <a:pt x="40132" y="179578"/>
                    <a:pt x="0" y="139319"/>
                    <a:pt x="0" y="89789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540402" y="6997770"/>
            <a:ext cx="7777839" cy="496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Develop mobile and web deployment solutions for accessibility.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149725" y="8154714"/>
            <a:ext cx="134645" cy="134645"/>
            <a:chOff x="0" y="0"/>
            <a:chExt cx="179527" cy="17952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9578" cy="179578"/>
            </a:xfrm>
            <a:custGeom>
              <a:avLst/>
              <a:gdLst/>
              <a:ahLst/>
              <a:cxnLst/>
              <a:rect r="r" b="b" t="t" l="l"/>
              <a:pathLst>
                <a:path h="179578" w="179578">
                  <a:moveTo>
                    <a:pt x="0" y="89789"/>
                  </a:moveTo>
                  <a:cubicBezTo>
                    <a:pt x="0" y="40132"/>
                    <a:pt x="40132" y="0"/>
                    <a:pt x="89789" y="0"/>
                  </a:cubicBezTo>
                  <a:cubicBezTo>
                    <a:pt x="139446" y="0"/>
                    <a:pt x="179578" y="40132"/>
                    <a:pt x="179578" y="89789"/>
                  </a:cubicBezTo>
                  <a:cubicBezTo>
                    <a:pt x="179578" y="139319"/>
                    <a:pt x="139446" y="179578"/>
                    <a:pt x="89789" y="179578"/>
                  </a:cubicBezTo>
                  <a:cubicBezTo>
                    <a:pt x="40132" y="179578"/>
                    <a:pt x="0" y="139319"/>
                    <a:pt x="0" y="89789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540402" y="7930315"/>
            <a:ext cx="7777839" cy="496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Integrate detection of emerging deepfake generation techniques.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FECE6">
                <a:alpha val="63922"/>
              </a:srgbClr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35438" y="3741249"/>
            <a:ext cx="17230954" cy="2736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9"/>
              </a:lnSpc>
            </a:pPr>
            <a:r>
              <a:rPr lang="en-US" sz="16738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DAHLpJmi04Q</dc:identifier>
  <dcterms:modified xsi:type="dcterms:W3CDTF">2011-08-01T06:04:30Z</dcterms:modified>
  <cp:revision>1</cp:revision>
  <dc:title>Multimodal-Deepfake-Detection-Using-Audio-Visual-Fusion-Networks.pptx</dc:title>
</cp:coreProperties>
</file>